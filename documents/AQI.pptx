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73" r:id="rId2"/>
    <p:sldId id="272" r:id="rId3"/>
    <p:sldId id="261" r:id="rId4"/>
    <p:sldId id="262" r:id="rId5"/>
    <p:sldId id="260" r:id="rId6"/>
    <p:sldId id="264" r:id="rId7"/>
    <p:sldId id="265" r:id="rId8"/>
    <p:sldId id="274" r:id="rId9"/>
    <p:sldId id="268" r:id="rId10"/>
    <p:sldId id="275"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601"/>
    <p:restoredTop sz="94933"/>
  </p:normalViewPr>
  <p:slideViewPr>
    <p:cSldViewPr snapToGrid="0">
      <p:cViewPr>
        <p:scale>
          <a:sx n="122" d="100"/>
          <a:sy n="122" d="100"/>
        </p:scale>
        <p:origin x="-496"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B0DFC4-3157-B848-9AFC-875531303B80}" type="datetimeFigureOut">
              <a:rPr lang="en-US" smtClean="0"/>
              <a:t>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E9631-5322-3F48-A11A-90B99BA076D0}" type="slidenum">
              <a:rPr lang="en-US" smtClean="0"/>
              <a:t>‹#›</a:t>
            </a:fld>
            <a:endParaRPr lang="en-US"/>
          </a:p>
        </p:txBody>
      </p:sp>
    </p:spTree>
    <p:extLst>
      <p:ext uri="{BB962C8B-B14F-4D97-AF65-F5344CB8AC3E}">
        <p14:creationId xmlns:p14="http://schemas.microsoft.com/office/powerpoint/2010/main" val="486194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CA9D1-18AF-15C2-EB35-867BAC47DB8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EC6E29C-6512-2A96-29A3-3A64881311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57ABCCE-36E7-7543-A219-52CB22BE6D64}"/>
              </a:ext>
            </a:extLst>
          </p:cNvPr>
          <p:cNvSpPr>
            <a:spLocks noGrp="1"/>
          </p:cNvSpPr>
          <p:nvPr>
            <p:ph type="dt" sz="half" idx="10"/>
          </p:nvPr>
        </p:nvSpPr>
        <p:spPr/>
        <p:txBody>
          <a:bodyPr/>
          <a:lstStyle/>
          <a:p>
            <a:fld id="{D585FFC5-364D-804C-8C93-D0FE16D92244}" type="datetimeFigureOut">
              <a:rPr lang="en-US" smtClean="0"/>
              <a:t>2/20/26</a:t>
            </a:fld>
            <a:endParaRPr lang="en-US"/>
          </a:p>
        </p:txBody>
      </p:sp>
      <p:sp>
        <p:nvSpPr>
          <p:cNvPr id="5" name="Footer Placeholder 4">
            <a:extLst>
              <a:ext uri="{FF2B5EF4-FFF2-40B4-BE49-F238E27FC236}">
                <a16:creationId xmlns:a16="http://schemas.microsoft.com/office/drawing/2014/main" id="{54290FBB-8C38-8336-78CE-7084F8EB83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DF9F8C-1888-99CF-AE82-977D5EA18D20}"/>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883075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8972A-7265-FD8B-98C4-ABEAB66FD28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693ABDC-B347-E2AC-083E-083365F2A74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D09B19C-9F97-C15D-98B4-C315D98A9AC5}"/>
              </a:ext>
            </a:extLst>
          </p:cNvPr>
          <p:cNvSpPr>
            <a:spLocks noGrp="1"/>
          </p:cNvSpPr>
          <p:nvPr>
            <p:ph type="dt" sz="half" idx="10"/>
          </p:nvPr>
        </p:nvSpPr>
        <p:spPr/>
        <p:txBody>
          <a:bodyPr/>
          <a:lstStyle/>
          <a:p>
            <a:fld id="{D585FFC5-364D-804C-8C93-D0FE16D92244}" type="datetimeFigureOut">
              <a:rPr lang="en-US" smtClean="0"/>
              <a:t>2/20/26</a:t>
            </a:fld>
            <a:endParaRPr lang="en-US"/>
          </a:p>
        </p:txBody>
      </p:sp>
      <p:sp>
        <p:nvSpPr>
          <p:cNvPr id="5" name="Footer Placeholder 4">
            <a:extLst>
              <a:ext uri="{FF2B5EF4-FFF2-40B4-BE49-F238E27FC236}">
                <a16:creationId xmlns:a16="http://schemas.microsoft.com/office/drawing/2014/main" id="{A0EFA348-C91B-CD44-F8CB-38FCD5450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6EC642-BF98-F1B1-DDB7-255C7C576569}"/>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3227633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1A30E-8D2F-A49F-28F7-5A9B256AE4B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51EDE7D-D8ED-2B35-BED4-3731238ED8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567FEB6-1FDB-7621-E445-982CFC794344}"/>
              </a:ext>
            </a:extLst>
          </p:cNvPr>
          <p:cNvSpPr>
            <a:spLocks noGrp="1"/>
          </p:cNvSpPr>
          <p:nvPr>
            <p:ph type="dt" sz="half" idx="10"/>
          </p:nvPr>
        </p:nvSpPr>
        <p:spPr/>
        <p:txBody>
          <a:bodyPr/>
          <a:lstStyle/>
          <a:p>
            <a:fld id="{D585FFC5-364D-804C-8C93-D0FE16D92244}" type="datetimeFigureOut">
              <a:rPr lang="en-US" smtClean="0"/>
              <a:t>2/20/26</a:t>
            </a:fld>
            <a:endParaRPr lang="en-US"/>
          </a:p>
        </p:txBody>
      </p:sp>
      <p:sp>
        <p:nvSpPr>
          <p:cNvPr id="5" name="Footer Placeholder 4">
            <a:extLst>
              <a:ext uri="{FF2B5EF4-FFF2-40B4-BE49-F238E27FC236}">
                <a16:creationId xmlns:a16="http://schemas.microsoft.com/office/drawing/2014/main" id="{CCF68E51-105B-1FA5-EA41-1D8A5F283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21599-1030-5D13-E47A-6AAFF4D2DBDD}"/>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568861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D322C-B3BB-5C57-62C3-3895FC48E5D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BB58ABB-AD3F-1CD8-4F81-1440912B0A3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6700512-5557-4518-65D2-51DEE0059B2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50CAD2A-9C06-9B82-EC8E-356D3553F828}"/>
              </a:ext>
            </a:extLst>
          </p:cNvPr>
          <p:cNvSpPr>
            <a:spLocks noGrp="1"/>
          </p:cNvSpPr>
          <p:nvPr>
            <p:ph type="dt" sz="half" idx="10"/>
          </p:nvPr>
        </p:nvSpPr>
        <p:spPr/>
        <p:txBody>
          <a:bodyPr/>
          <a:lstStyle/>
          <a:p>
            <a:fld id="{D585FFC5-364D-804C-8C93-D0FE16D92244}" type="datetimeFigureOut">
              <a:rPr lang="en-US" smtClean="0"/>
              <a:t>2/20/26</a:t>
            </a:fld>
            <a:endParaRPr lang="en-US"/>
          </a:p>
        </p:txBody>
      </p:sp>
      <p:sp>
        <p:nvSpPr>
          <p:cNvPr id="6" name="Footer Placeholder 5">
            <a:extLst>
              <a:ext uri="{FF2B5EF4-FFF2-40B4-BE49-F238E27FC236}">
                <a16:creationId xmlns:a16="http://schemas.microsoft.com/office/drawing/2014/main" id="{48C01423-A469-04B9-37C6-EC3705844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ECA0A8-2C31-7010-4389-17F2C56F1E8A}"/>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3228038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F7B96-9769-3225-1715-F50E3443DC4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B17EBE3-783C-B21E-8629-0AF1F7C8B5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A4B3782-E618-80ED-3C58-4A92019AB3B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CEC230A-06DD-313E-F803-D632A2FDA5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16CD675-D6E1-E311-2C0D-887F8BAC880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DA315B-DA54-2A05-7717-E5B621FB5992}"/>
              </a:ext>
            </a:extLst>
          </p:cNvPr>
          <p:cNvSpPr>
            <a:spLocks noGrp="1"/>
          </p:cNvSpPr>
          <p:nvPr>
            <p:ph type="dt" sz="half" idx="10"/>
          </p:nvPr>
        </p:nvSpPr>
        <p:spPr/>
        <p:txBody>
          <a:bodyPr/>
          <a:lstStyle/>
          <a:p>
            <a:fld id="{D585FFC5-364D-804C-8C93-D0FE16D92244}" type="datetimeFigureOut">
              <a:rPr lang="en-US" smtClean="0"/>
              <a:t>2/20/26</a:t>
            </a:fld>
            <a:endParaRPr lang="en-US"/>
          </a:p>
        </p:txBody>
      </p:sp>
      <p:sp>
        <p:nvSpPr>
          <p:cNvPr id="8" name="Footer Placeholder 7">
            <a:extLst>
              <a:ext uri="{FF2B5EF4-FFF2-40B4-BE49-F238E27FC236}">
                <a16:creationId xmlns:a16="http://schemas.microsoft.com/office/drawing/2014/main" id="{767CF411-37FA-9738-BD67-B7C3D46283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47A964-C4D2-8E7A-677D-A3DDA60B0BA8}"/>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2404296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ACBDF-F6F9-DF95-4867-AC2A66525A1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2238F59-BA83-27C4-6950-D3AE7553D9FE}"/>
              </a:ext>
            </a:extLst>
          </p:cNvPr>
          <p:cNvSpPr>
            <a:spLocks noGrp="1"/>
          </p:cNvSpPr>
          <p:nvPr>
            <p:ph type="dt" sz="half" idx="10"/>
          </p:nvPr>
        </p:nvSpPr>
        <p:spPr/>
        <p:txBody>
          <a:bodyPr/>
          <a:lstStyle/>
          <a:p>
            <a:fld id="{D585FFC5-364D-804C-8C93-D0FE16D92244}" type="datetimeFigureOut">
              <a:rPr lang="en-US" smtClean="0"/>
              <a:t>2/20/26</a:t>
            </a:fld>
            <a:endParaRPr lang="en-US"/>
          </a:p>
        </p:txBody>
      </p:sp>
      <p:sp>
        <p:nvSpPr>
          <p:cNvPr id="4" name="Footer Placeholder 3">
            <a:extLst>
              <a:ext uri="{FF2B5EF4-FFF2-40B4-BE49-F238E27FC236}">
                <a16:creationId xmlns:a16="http://schemas.microsoft.com/office/drawing/2014/main" id="{63CCD23A-BD19-4629-AA61-0931A88F37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36D1CB-3E53-4055-9D76-BFCBAE79D404}"/>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573660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7A5D30-553A-AE57-F17D-C7AC6CED6089}"/>
              </a:ext>
            </a:extLst>
          </p:cNvPr>
          <p:cNvSpPr>
            <a:spLocks noGrp="1"/>
          </p:cNvSpPr>
          <p:nvPr>
            <p:ph type="dt" sz="half" idx="10"/>
          </p:nvPr>
        </p:nvSpPr>
        <p:spPr/>
        <p:txBody>
          <a:bodyPr/>
          <a:lstStyle/>
          <a:p>
            <a:fld id="{D585FFC5-364D-804C-8C93-D0FE16D92244}" type="datetimeFigureOut">
              <a:rPr lang="en-US" smtClean="0"/>
              <a:t>2/20/26</a:t>
            </a:fld>
            <a:endParaRPr lang="en-US"/>
          </a:p>
        </p:txBody>
      </p:sp>
      <p:sp>
        <p:nvSpPr>
          <p:cNvPr id="3" name="Footer Placeholder 2">
            <a:extLst>
              <a:ext uri="{FF2B5EF4-FFF2-40B4-BE49-F238E27FC236}">
                <a16:creationId xmlns:a16="http://schemas.microsoft.com/office/drawing/2014/main" id="{265F9702-838C-8FB9-BA64-FA4BD0D1A4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038ED7-0F33-E070-AD87-CEC749B9045F}"/>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698418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B21E5-0B80-03B1-2D36-56854F03206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CA3E7E4-BF04-9C67-D3E0-AAEE5A957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C4BCE85-40CF-CF6E-539C-EAA5CD004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92A2678-D2D1-1E8E-10C5-78830D946D09}"/>
              </a:ext>
            </a:extLst>
          </p:cNvPr>
          <p:cNvSpPr>
            <a:spLocks noGrp="1"/>
          </p:cNvSpPr>
          <p:nvPr>
            <p:ph type="dt" sz="half" idx="10"/>
          </p:nvPr>
        </p:nvSpPr>
        <p:spPr/>
        <p:txBody>
          <a:bodyPr/>
          <a:lstStyle/>
          <a:p>
            <a:fld id="{D585FFC5-364D-804C-8C93-D0FE16D92244}" type="datetimeFigureOut">
              <a:rPr lang="en-US" smtClean="0"/>
              <a:t>2/20/26</a:t>
            </a:fld>
            <a:endParaRPr lang="en-US"/>
          </a:p>
        </p:txBody>
      </p:sp>
      <p:sp>
        <p:nvSpPr>
          <p:cNvPr id="6" name="Footer Placeholder 5">
            <a:extLst>
              <a:ext uri="{FF2B5EF4-FFF2-40B4-BE49-F238E27FC236}">
                <a16:creationId xmlns:a16="http://schemas.microsoft.com/office/drawing/2014/main" id="{F8502F20-ECE7-70B4-FDA7-4FB2C04D18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69C641-58DE-7CA7-DABF-7ED19892396A}"/>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341794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E43DB-12AB-698D-DB09-1DD446B725D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1FDFDD3-2ABB-D6FA-9ECA-E8DEE3FC3E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91A07D-60F4-A244-5CEE-DBA23FFD52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B8B7136-E967-48F4-FDB2-CA689F1A7C80}"/>
              </a:ext>
            </a:extLst>
          </p:cNvPr>
          <p:cNvSpPr>
            <a:spLocks noGrp="1"/>
          </p:cNvSpPr>
          <p:nvPr>
            <p:ph type="dt" sz="half" idx="10"/>
          </p:nvPr>
        </p:nvSpPr>
        <p:spPr/>
        <p:txBody>
          <a:bodyPr/>
          <a:lstStyle/>
          <a:p>
            <a:fld id="{D585FFC5-364D-804C-8C93-D0FE16D92244}" type="datetimeFigureOut">
              <a:rPr lang="en-US" smtClean="0"/>
              <a:t>2/20/26</a:t>
            </a:fld>
            <a:endParaRPr lang="en-US"/>
          </a:p>
        </p:txBody>
      </p:sp>
      <p:sp>
        <p:nvSpPr>
          <p:cNvPr id="6" name="Footer Placeholder 5">
            <a:extLst>
              <a:ext uri="{FF2B5EF4-FFF2-40B4-BE49-F238E27FC236}">
                <a16:creationId xmlns:a16="http://schemas.microsoft.com/office/drawing/2014/main" id="{823F5A7C-7070-6F64-4D85-54339FF629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59D214-87DA-FD56-D999-323AB3DA38E4}"/>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23833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AEFB2-42C5-452D-6A7F-8092D2C8146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91DABB-D469-8D9E-2848-431A0ABF875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E9A15F-7113-B1F9-79D0-18A3E74CC08F}"/>
              </a:ext>
            </a:extLst>
          </p:cNvPr>
          <p:cNvSpPr>
            <a:spLocks noGrp="1"/>
          </p:cNvSpPr>
          <p:nvPr>
            <p:ph type="dt" sz="half" idx="10"/>
          </p:nvPr>
        </p:nvSpPr>
        <p:spPr/>
        <p:txBody>
          <a:bodyPr/>
          <a:lstStyle/>
          <a:p>
            <a:fld id="{D585FFC5-364D-804C-8C93-D0FE16D92244}" type="datetimeFigureOut">
              <a:rPr lang="en-US" smtClean="0"/>
              <a:t>2/20/26</a:t>
            </a:fld>
            <a:endParaRPr lang="en-US"/>
          </a:p>
        </p:txBody>
      </p:sp>
      <p:sp>
        <p:nvSpPr>
          <p:cNvPr id="5" name="Footer Placeholder 4">
            <a:extLst>
              <a:ext uri="{FF2B5EF4-FFF2-40B4-BE49-F238E27FC236}">
                <a16:creationId xmlns:a16="http://schemas.microsoft.com/office/drawing/2014/main" id="{C489A4AA-D85C-099C-FE3F-43596B7F21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A411E1-7B10-4907-92A2-635470185169}"/>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645548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BE0407-CB2C-D115-902C-D3114595CB9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B2656E2-2D67-3A60-D3CC-37730B48CC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093C124-87BD-51D5-4EA0-610DCDD35B4B}"/>
              </a:ext>
            </a:extLst>
          </p:cNvPr>
          <p:cNvSpPr>
            <a:spLocks noGrp="1"/>
          </p:cNvSpPr>
          <p:nvPr>
            <p:ph type="dt" sz="half" idx="10"/>
          </p:nvPr>
        </p:nvSpPr>
        <p:spPr/>
        <p:txBody>
          <a:bodyPr/>
          <a:lstStyle/>
          <a:p>
            <a:fld id="{D585FFC5-364D-804C-8C93-D0FE16D92244}" type="datetimeFigureOut">
              <a:rPr lang="en-US" smtClean="0"/>
              <a:t>2/20/26</a:t>
            </a:fld>
            <a:endParaRPr lang="en-US"/>
          </a:p>
        </p:txBody>
      </p:sp>
      <p:sp>
        <p:nvSpPr>
          <p:cNvPr id="5" name="Footer Placeholder 4">
            <a:extLst>
              <a:ext uri="{FF2B5EF4-FFF2-40B4-BE49-F238E27FC236}">
                <a16:creationId xmlns:a16="http://schemas.microsoft.com/office/drawing/2014/main" id="{40227A0D-D030-D14B-1427-251B3B07C3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126000-1BF4-AA4A-3032-21FDA0314DA3}"/>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4153206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719351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809073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2560773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670406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731946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044919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D1D68B-6D18-EC54-2A9B-CCF80C819E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3E2A7D1-3AFC-C3A1-523D-B1DE535EB8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4C4C109-CDFB-0822-7E5B-2B9B88C125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85FFC5-364D-804C-8C93-D0FE16D92244}" type="datetimeFigureOut">
              <a:rPr lang="en-US" smtClean="0"/>
              <a:t>2/20/26</a:t>
            </a:fld>
            <a:endParaRPr lang="en-US"/>
          </a:p>
        </p:txBody>
      </p:sp>
      <p:sp>
        <p:nvSpPr>
          <p:cNvPr id="5" name="Footer Placeholder 4">
            <a:extLst>
              <a:ext uri="{FF2B5EF4-FFF2-40B4-BE49-F238E27FC236}">
                <a16:creationId xmlns:a16="http://schemas.microsoft.com/office/drawing/2014/main" id="{4874F1E8-33CA-E9BE-70DD-DD4E61CA7E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4839C19-FD4C-1E45-B06D-8032CD80C9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731B01-89BD-3E43-9D38-1F8476CF6F6D}" type="slidenum">
              <a:rPr lang="en-US" smtClean="0"/>
              <a:t>‹#›</a:t>
            </a:fld>
            <a:endParaRPr lang="en-US"/>
          </a:p>
        </p:txBody>
      </p:sp>
    </p:spTree>
    <p:extLst>
      <p:ext uri="{BB962C8B-B14F-4D97-AF65-F5344CB8AC3E}">
        <p14:creationId xmlns:p14="http://schemas.microsoft.com/office/powerpoint/2010/main" val="1127438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 id="2147483665" r:id="rId16"/>
    <p:sldLayoutId id="2147483667"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CAF33C7-86B3-094C-2FF6-17D10988947A}"/>
              </a:ext>
            </a:extLst>
          </p:cNvPr>
          <p:cNvSpPr/>
          <p:nvPr/>
        </p:nvSpPr>
        <p:spPr>
          <a:xfrm>
            <a:off x="415911" y="2184300"/>
            <a:ext cx="6465535" cy="1637608"/>
          </a:xfrm>
          <a:prstGeom prst="rect">
            <a:avLst/>
          </a:prstGeom>
          <a:noFill/>
          <a:ln/>
        </p:spPr>
        <p:txBody>
          <a:bodyPr wrap="square" lIns="0" tIns="0" rIns="0" bIns="0" rtlCol="0" anchor="t"/>
          <a:lstStyle/>
          <a:p>
            <a:pPr marL="0" indent="0">
              <a:buNone/>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Air Quality Index Prediction and Smart Monitoring System Using Machine Learning</a:t>
            </a:r>
            <a:endParaRPr lang="en-US" sz="3500" b="1"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0DACCCD8-402E-A43D-8207-0051B1B8FEFA}"/>
              </a:ext>
            </a:extLst>
          </p:cNvPr>
          <p:cNvSpPr/>
          <p:nvPr/>
        </p:nvSpPr>
        <p:spPr>
          <a:xfrm>
            <a:off x="415911" y="4157884"/>
            <a:ext cx="6266244" cy="680323"/>
          </a:xfrm>
          <a:prstGeom prst="rect">
            <a:avLst/>
          </a:prstGeom>
          <a:noFill/>
          <a:ln/>
        </p:spPr>
        <p:txBody>
          <a:bodyPr wrap="square" lIns="0" tIns="0" rIns="0" bIns="0" rtlCol="0" anchor="t"/>
          <a:lstStyle/>
          <a:p>
            <a:pPr marL="0" indent="0" algn="l">
              <a:lnSpc>
                <a:spcPts val="2650"/>
              </a:lnSpc>
              <a:buNone/>
            </a:pPr>
            <a:r>
              <a:rPr lang="en-US" dirty="0">
                <a:solidFill>
                  <a:srgbClr val="384653"/>
                </a:solidFill>
                <a:latin typeface="Times New Roman" panose="02020603050405020304" pitchFamily="18" charset="0"/>
                <a:ea typeface="Roboto" pitchFamily="34" charset="-122"/>
                <a:cs typeface="Times New Roman" panose="02020603050405020304" pitchFamily="18" charset="0"/>
              </a:rPr>
              <a:t>An approach to understanding how air quality affects health risks in urban environments.</a:t>
            </a:r>
            <a:endParaRPr lang="en-US" dirty="0">
              <a:latin typeface="Times New Roman" panose="02020603050405020304" pitchFamily="18" charset="0"/>
              <a:cs typeface="Times New Roman" panose="02020603050405020304" pitchFamily="18" charset="0"/>
            </a:endParaRPr>
          </a:p>
        </p:txBody>
      </p:sp>
      <p:pic>
        <p:nvPicPr>
          <p:cNvPr id="4" name="Picture 10" descr="This may contain: a collage of photos with the words air pollution">
            <a:extLst>
              <a:ext uri="{FF2B5EF4-FFF2-40B4-BE49-F238E27FC236}">
                <a16:creationId xmlns:a16="http://schemas.microsoft.com/office/drawing/2014/main" id="{79C59978-C92A-0F22-A492-32D804DB7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7231" y="0"/>
            <a:ext cx="445476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0048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64673586-D11E-6929-A2F2-307E76664425}"/>
              </a:ext>
            </a:extLst>
          </p:cNvPr>
          <p:cNvSpPr/>
          <p:nvPr/>
        </p:nvSpPr>
        <p:spPr>
          <a:xfrm>
            <a:off x="866484" y="1236580"/>
            <a:ext cx="9455058" cy="708779"/>
          </a:xfrm>
          <a:prstGeom prst="rect">
            <a:avLst/>
          </a:prstGeom>
          <a:noFill/>
          <a:ln/>
        </p:spPr>
        <p:txBody>
          <a:bodyPr wrap="none" lIns="0" tIns="0" rIns="0" bIns="0" rtlCol="0" anchor="t"/>
          <a:lstStyle/>
          <a:p>
            <a:pPr marL="0" indent="0" algn="l">
              <a:lnSpc>
                <a:spcPts val="5550"/>
              </a:lnSpc>
              <a:buNone/>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The Growing Challenge of Urban Air Pollution</a:t>
            </a:r>
            <a:endParaRPr lang="en-US" sz="3500" b="1" dirty="0">
              <a:latin typeface="Times New Roman" panose="02020603050405020304" pitchFamily="18" charset="0"/>
              <a:cs typeface="Times New Roman" panose="02020603050405020304" pitchFamily="18" charset="0"/>
            </a:endParaRPr>
          </a:p>
        </p:txBody>
      </p:sp>
      <p:sp>
        <p:nvSpPr>
          <p:cNvPr id="3" name="Shape 0">
            <a:extLst>
              <a:ext uri="{FF2B5EF4-FFF2-40B4-BE49-F238E27FC236}">
                <a16:creationId xmlns:a16="http://schemas.microsoft.com/office/drawing/2014/main" id="{C3644946-5677-887B-78D0-EAC733C80844}"/>
              </a:ext>
            </a:extLst>
          </p:cNvPr>
          <p:cNvSpPr/>
          <p:nvPr/>
        </p:nvSpPr>
        <p:spPr>
          <a:xfrm>
            <a:off x="866484" y="817096"/>
            <a:ext cx="1457563" cy="408146"/>
          </a:xfrm>
          <a:prstGeom prst="roundRect">
            <a:avLst>
              <a:gd name="adj" fmla="val 18673"/>
            </a:avLst>
          </a:prstGeom>
          <a:solidFill>
            <a:srgbClr val="D9EDF2"/>
          </a:solidFill>
          <a:ln/>
        </p:spPr>
        <p:txBody>
          <a:bodyPr/>
          <a:lstStyle/>
          <a:p>
            <a:endParaRPr lang="en-US"/>
          </a:p>
        </p:txBody>
      </p:sp>
      <p:sp>
        <p:nvSpPr>
          <p:cNvPr id="4" name="Text 1">
            <a:extLst>
              <a:ext uri="{FF2B5EF4-FFF2-40B4-BE49-F238E27FC236}">
                <a16:creationId xmlns:a16="http://schemas.microsoft.com/office/drawing/2014/main" id="{894425C0-303D-7619-FED6-010378C9F7AC}"/>
              </a:ext>
            </a:extLst>
          </p:cNvPr>
          <p:cNvSpPr/>
          <p:nvPr/>
        </p:nvSpPr>
        <p:spPr>
          <a:xfrm>
            <a:off x="1002572" y="885080"/>
            <a:ext cx="1185386" cy="272177"/>
          </a:xfrm>
          <a:prstGeom prst="rect">
            <a:avLst/>
          </a:prstGeom>
          <a:noFill/>
          <a:ln/>
        </p:spPr>
        <p:txBody>
          <a:bodyPr wrap="none" lIns="0" tIns="0" rIns="0" bIns="0" rtlCol="0" anchor="t"/>
          <a:lstStyle/>
          <a:p>
            <a:pPr marL="0" indent="0" algn="l">
              <a:lnSpc>
                <a:spcPts val="2100"/>
              </a:lnSpc>
              <a:buNone/>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BACKGROUND</a:t>
            </a:r>
            <a:endParaRPr lang="en-US" sz="14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0CF1D8A5-8AC0-A653-3D33-432FCA2E0581}"/>
              </a:ext>
            </a:extLst>
          </p:cNvPr>
          <p:cNvSpPr/>
          <p:nvPr/>
        </p:nvSpPr>
        <p:spPr>
          <a:xfrm>
            <a:off x="6791378" y="2609860"/>
            <a:ext cx="4534138" cy="1553142"/>
          </a:xfrm>
          <a:prstGeom prst="rect">
            <a:avLst/>
          </a:prstGeom>
          <a:noFill/>
          <a:ln/>
        </p:spPr>
        <p:txBody>
          <a:bodyPr wrap="square" lIns="0" tIns="0" rIns="0" bIns="0" rtlCol="0" anchor="t"/>
          <a:lstStyle/>
          <a:p>
            <a:pPr algn="just"/>
            <a:r>
              <a:rPr lang="en-IN" sz="1600" dirty="0">
                <a:latin typeface="Times New Roman" panose="02020603050405020304" pitchFamily="18" charset="0"/>
                <a:cs typeface="Times New Roman" panose="02020603050405020304" pitchFamily="18" charset="0"/>
              </a:rPr>
              <a:t>Fast urban growth and expanding industries have turned air pollution into a serious public health concern in many Indian cities. Increasing vehicle exhaust, factory emissions, and large-scale construction activities have significantly contributed to worsening air quality levels.</a:t>
            </a:r>
          </a:p>
        </p:txBody>
      </p:sp>
      <p:sp>
        <p:nvSpPr>
          <p:cNvPr id="6" name="Text 4">
            <a:extLst>
              <a:ext uri="{FF2B5EF4-FFF2-40B4-BE49-F238E27FC236}">
                <a16:creationId xmlns:a16="http://schemas.microsoft.com/office/drawing/2014/main" id="{6E250A0F-D8F7-F1B5-F8CD-E670C41D7FEB}"/>
              </a:ext>
            </a:extLst>
          </p:cNvPr>
          <p:cNvSpPr/>
          <p:nvPr/>
        </p:nvSpPr>
        <p:spPr>
          <a:xfrm>
            <a:off x="6791378" y="4487762"/>
            <a:ext cx="4450504" cy="1553142"/>
          </a:xfrm>
          <a:prstGeom prst="rect">
            <a:avLst/>
          </a:prstGeom>
          <a:noFill/>
          <a:ln/>
        </p:spPr>
        <p:txBody>
          <a:bodyPr wrap="square" lIns="0" tIns="0" rIns="0" bIns="0" rtlCol="0" anchor="t"/>
          <a:lstStyle/>
          <a:p>
            <a:pPr algn="just"/>
            <a:r>
              <a:rPr lang="en-IN" sz="1600" dirty="0">
                <a:latin typeface="Times New Roman" panose="02020603050405020304" pitchFamily="18" charset="0"/>
                <a:cs typeface="Times New Roman" panose="02020603050405020304" pitchFamily="18" charset="0"/>
              </a:rPr>
              <a:t>Breathing polluted air for long periods can seriously harm our health, leading to breathing problems, heart diseases, and even a shorter lifespan. Even with these dangers, many people still do not have easy access to simple tools that help them understand daily air quality levels and what they mean for their health.</a:t>
            </a:r>
          </a:p>
        </p:txBody>
      </p:sp>
      <p:pic>
        <p:nvPicPr>
          <p:cNvPr id="7" name="Picture 2" descr="white and black ship on sea under white clouds">
            <a:extLst>
              <a:ext uri="{FF2B5EF4-FFF2-40B4-BE49-F238E27FC236}">
                <a16:creationId xmlns:a16="http://schemas.microsoft.com/office/drawing/2014/main" id="{F5024ABC-36DE-0602-BB14-195B9C9743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484" y="2609860"/>
            <a:ext cx="5541450" cy="3427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0197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88305" y="1469930"/>
            <a:ext cx="9862145"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Research Objectives and Expected Outcomes</a:t>
            </a:r>
            <a:endParaRPr lang="en-US" sz="3500" b="1" dirty="0">
              <a:latin typeface="Times New Roman" panose="02020603050405020304" pitchFamily="18" charset="0"/>
              <a:cs typeface="Times New Roman" panose="02020603050405020304" pitchFamily="18" charset="0"/>
            </a:endParaRPr>
          </a:p>
        </p:txBody>
      </p:sp>
      <p:sp>
        <p:nvSpPr>
          <p:cNvPr id="5" name="Shape 3"/>
          <p:cNvSpPr/>
          <p:nvPr/>
        </p:nvSpPr>
        <p:spPr>
          <a:xfrm>
            <a:off x="888305" y="3004131"/>
            <a:ext cx="3206047" cy="2380784"/>
          </a:xfrm>
          <a:prstGeom prst="roundRect">
            <a:avLst>
              <a:gd name="adj" fmla="val 3160"/>
            </a:avLst>
          </a:prstGeom>
          <a:solidFill>
            <a:srgbClr val="D9EDF2"/>
          </a:solidFill>
          <a:ln w="7620">
            <a:solidFill>
              <a:srgbClr val="BFD3D8"/>
            </a:solidFill>
            <a:prstDash val="solid"/>
          </a:ln>
        </p:spPr>
        <p:txBody>
          <a:bodyPr/>
          <a:lstStyle/>
          <a:p>
            <a:endParaRPr lang="en-US" dirty="0"/>
          </a:p>
        </p:txBody>
      </p:sp>
      <p:sp>
        <p:nvSpPr>
          <p:cNvPr id="6" name="Text 4"/>
          <p:cNvSpPr/>
          <p:nvPr/>
        </p:nvSpPr>
        <p:spPr>
          <a:xfrm>
            <a:off x="1075918" y="3479038"/>
            <a:ext cx="2852589" cy="295275"/>
          </a:xfrm>
          <a:prstGeom prst="rect">
            <a:avLst/>
          </a:prstGeom>
          <a:noFill/>
          <a:ln/>
        </p:spPr>
        <p:txBody>
          <a:bodyPr wrap="none" lIns="0" tIns="0" rIns="0" bIns="0" rtlCol="0" anchor="t"/>
          <a:lstStyle/>
          <a:p>
            <a:pPr algn="ct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AQI Prediction</a:t>
            </a:r>
            <a:endParaRPr lang="en-US" b="1" dirty="0">
              <a:latin typeface="Times New Roman" panose="02020603050405020304" pitchFamily="18" charset="0"/>
              <a:cs typeface="Times New Roman" panose="02020603050405020304" pitchFamily="18" charset="0"/>
            </a:endParaRPr>
          </a:p>
        </p:txBody>
      </p:sp>
      <p:sp>
        <p:nvSpPr>
          <p:cNvPr id="7" name="Text 5"/>
          <p:cNvSpPr/>
          <p:nvPr/>
        </p:nvSpPr>
        <p:spPr>
          <a:xfrm>
            <a:off x="1067336" y="3961684"/>
            <a:ext cx="2852589" cy="1053986"/>
          </a:xfrm>
          <a:prstGeom prst="rect">
            <a:avLst/>
          </a:prstGeom>
          <a:noFill/>
          <a:ln/>
        </p:spPr>
        <p:txBody>
          <a:bodyPr wrap="square" lIns="0" tIns="0" rIns="0" bIns="0" rtlCol="0" anchor="t"/>
          <a:lstStyle/>
          <a:p>
            <a:pPr algn="ctr"/>
            <a:r>
              <a:rPr lang="en-IN" sz="1600" dirty="0">
                <a:latin typeface="Times New Roman" panose="02020603050405020304" pitchFamily="18" charset="0"/>
                <a:cs typeface="Times New Roman" panose="02020603050405020304" pitchFamily="18" charset="0"/>
              </a:rPr>
              <a:t>Create reliable prediction models using pollution data to estimate upcoming Air Quality Index levels.</a:t>
            </a:r>
          </a:p>
        </p:txBody>
      </p:sp>
      <p:sp>
        <p:nvSpPr>
          <p:cNvPr id="8" name="Shape 6"/>
          <p:cNvSpPr/>
          <p:nvPr/>
        </p:nvSpPr>
        <p:spPr>
          <a:xfrm>
            <a:off x="4491475" y="3004131"/>
            <a:ext cx="3206047" cy="2380784"/>
          </a:xfrm>
          <a:prstGeom prst="roundRect">
            <a:avLst>
              <a:gd name="adj" fmla="val 3160"/>
            </a:avLst>
          </a:prstGeom>
          <a:solidFill>
            <a:srgbClr val="D9EDF2"/>
          </a:solidFill>
          <a:ln w="7620">
            <a:solidFill>
              <a:srgbClr val="BFD3D8"/>
            </a:solidFill>
            <a:prstDash val="solid"/>
          </a:ln>
        </p:spPr>
        <p:txBody>
          <a:bodyPr/>
          <a:lstStyle/>
          <a:p>
            <a:endParaRPr lang="en-US" dirty="0"/>
          </a:p>
        </p:txBody>
      </p:sp>
      <p:sp>
        <p:nvSpPr>
          <p:cNvPr id="9" name="Text 7"/>
          <p:cNvSpPr/>
          <p:nvPr/>
        </p:nvSpPr>
        <p:spPr>
          <a:xfrm>
            <a:off x="4715594" y="3423762"/>
            <a:ext cx="2776710" cy="295275"/>
          </a:xfrm>
          <a:prstGeom prst="rect">
            <a:avLst/>
          </a:prstGeom>
          <a:noFill/>
          <a:ln/>
        </p:spPr>
        <p:txBody>
          <a:bodyPr wrap="square" lIns="0" tIns="0" rIns="0" bIns="0" rtlCol="0" anchor="t"/>
          <a:lstStyle/>
          <a:p>
            <a:pPr algn="ct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Early Warning System</a:t>
            </a:r>
            <a:endParaRPr lang="en-US" b="1" dirty="0">
              <a:latin typeface="Times New Roman" panose="02020603050405020304" pitchFamily="18" charset="0"/>
              <a:cs typeface="Times New Roman" panose="02020603050405020304" pitchFamily="18" charset="0"/>
            </a:endParaRPr>
          </a:p>
        </p:txBody>
      </p:sp>
      <p:sp>
        <p:nvSpPr>
          <p:cNvPr id="10" name="Text 8"/>
          <p:cNvSpPr/>
          <p:nvPr/>
        </p:nvSpPr>
        <p:spPr>
          <a:xfrm>
            <a:off x="4764976" y="3919474"/>
            <a:ext cx="2659046" cy="1053986"/>
          </a:xfrm>
          <a:prstGeom prst="rect">
            <a:avLst/>
          </a:prstGeom>
          <a:noFill/>
          <a:ln/>
        </p:spPr>
        <p:txBody>
          <a:bodyPr wrap="square" lIns="0" tIns="0" rIns="0" bIns="0" rtlCol="0" anchor="t"/>
          <a:lstStyle/>
          <a:p>
            <a:pPr algn="ctr"/>
            <a:r>
              <a:rPr lang="en-IN" sz="1600" dirty="0">
                <a:latin typeface="Times New Roman" panose="02020603050405020304" pitchFamily="18" charset="0"/>
                <a:cs typeface="Times New Roman" panose="02020603050405020304" pitchFamily="18" charset="0"/>
              </a:rPr>
              <a:t>Send early health warnings to at-risk people before air pollution rises to dangerous levels.</a:t>
            </a:r>
          </a:p>
        </p:txBody>
      </p:sp>
      <p:sp>
        <p:nvSpPr>
          <p:cNvPr id="14" name="Shape 12"/>
          <p:cNvSpPr/>
          <p:nvPr/>
        </p:nvSpPr>
        <p:spPr>
          <a:xfrm>
            <a:off x="8094645" y="3004131"/>
            <a:ext cx="3206047" cy="2380784"/>
          </a:xfrm>
          <a:prstGeom prst="roundRect">
            <a:avLst>
              <a:gd name="adj" fmla="val 3160"/>
            </a:avLst>
          </a:prstGeom>
          <a:solidFill>
            <a:srgbClr val="D9EDF2"/>
          </a:solidFill>
          <a:ln w="7620">
            <a:solidFill>
              <a:srgbClr val="BFD3D8"/>
            </a:solidFill>
            <a:prstDash val="solid"/>
          </a:ln>
        </p:spPr>
        <p:txBody>
          <a:bodyPr/>
          <a:lstStyle/>
          <a:p>
            <a:endParaRPr lang="en-US"/>
          </a:p>
        </p:txBody>
      </p:sp>
      <p:sp>
        <p:nvSpPr>
          <p:cNvPr id="15" name="Text 13"/>
          <p:cNvSpPr/>
          <p:nvPr/>
        </p:nvSpPr>
        <p:spPr>
          <a:xfrm>
            <a:off x="8377223" y="3423761"/>
            <a:ext cx="2623730" cy="295275"/>
          </a:xfrm>
          <a:prstGeom prst="rect">
            <a:avLst/>
          </a:prstGeom>
          <a:noFill/>
          <a:ln/>
        </p:spPr>
        <p:txBody>
          <a:bodyPr wrap="none" lIns="0" tIns="0" rIns="0" bIns="0" rtlCol="0" anchor="t"/>
          <a:lstStyle/>
          <a:p>
            <a:pPr algn="ctr">
              <a:lnSpc>
                <a:spcPts val="2292"/>
              </a:lnSpc>
            </a:pPr>
            <a:r>
              <a:rPr lang="en-US" b="1" dirty="0">
                <a:solidFill>
                  <a:srgbClr val="384653"/>
                </a:solidFill>
                <a:latin typeface="Host Grotesk Medium" pitchFamily="34" charset="0"/>
                <a:ea typeface="Host Grotesk Medium" pitchFamily="34" charset="-122"/>
                <a:cs typeface="Host Grotesk Medium" pitchFamily="34" charset="-120"/>
              </a:rPr>
              <a:t>Interactive Platform</a:t>
            </a:r>
            <a:endParaRPr lang="en-US" b="1" dirty="0"/>
          </a:p>
        </p:txBody>
      </p:sp>
      <p:sp>
        <p:nvSpPr>
          <p:cNvPr id="16" name="Text 14"/>
          <p:cNvSpPr/>
          <p:nvPr/>
        </p:nvSpPr>
        <p:spPr>
          <a:xfrm>
            <a:off x="8385804" y="3919474"/>
            <a:ext cx="2623731" cy="1053986"/>
          </a:xfrm>
          <a:prstGeom prst="rect">
            <a:avLst/>
          </a:prstGeom>
          <a:noFill/>
          <a:ln/>
        </p:spPr>
        <p:txBody>
          <a:bodyPr wrap="square" lIns="0" tIns="0" rIns="0" bIns="0" rtlCol="0" anchor="t"/>
          <a:lstStyle/>
          <a:p>
            <a:pPr algn="ctr"/>
            <a:r>
              <a:rPr lang="en-IN" sz="1600" dirty="0">
                <a:latin typeface="Times New Roman" panose="02020603050405020304" pitchFamily="18" charset="0"/>
                <a:cs typeface="Times New Roman" panose="02020603050405020304" pitchFamily="18" charset="0"/>
              </a:rPr>
              <a:t>Design an monitoring system that allows people to check air quality based on different pollution levels.</a:t>
            </a:r>
          </a:p>
        </p:txBody>
      </p:sp>
      <p:sp>
        <p:nvSpPr>
          <p:cNvPr id="17" name="Shape 0">
            <a:extLst>
              <a:ext uri="{FF2B5EF4-FFF2-40B4-BE49-F238E27FC236}">
                <a16:creationId xmlns:a16="http://schemas.microsoft.com/office/drawing/2014/main" id="{8FB5C777-6DE5-E309-B122-84D2275E00EB}"/>
              </a:ext>
            </a:extLst>
          </p:cNvPr>
          <p:cNvSpPr/>
          <p:nvPr/>
        </p:nvSpPr>
        <p:spPr>
          <a:xfrm>
            <a:off x="888305" y="998130"/>
            <a:ext cx="1589339"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
            <a:extLst>
              <a:ext uri="{FF2B5EF4-FFF2-40B4-BE49-F238E27FC236}">
                <a16:creationId xmlns:a16="http://schemas.microsoft.com/office/drawing/2014/main" id="{F7ACBAC0-2524-320A-3758-8DF8FEB6D498}"/>
              </a:ext>
            </a:extLst>
          </p:cNvPr>
          <p:cNvSpPr/>
          <p:nvPr/>
        </p:nvSpPr>
        <p:spPr>
          <a:xfrm>
            <a:off x="1001711" y="1061678"/>
            <a:ext cx="114051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PROJECT GOALS</a:t>
            </a:r>
            <a:endParaRPr lang="en-US" sz="1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3B4E638-16DA-E64A-6FE0-ADAEF2241E34}"/>
              </a:ext>
            </a:extLst>
          </p:cNvPr>
          <p:cNvSpPr txBox="1"/>
          <p:nvPr/>
        </p:nvSpPr>
        <p:spPr>
          <a:xfrm>
            <a:off x="3927231" y="1148862"/>
            <a:ext cx="184731" cy="369332"/>
          </a:xfrm>
          <a:prstGeom prst="rect">
            <a:avLst/>
          </a:prstGeom>
          <a:noFill/>
        </p:spPr>
        <p:txBody>
          <a:bodyPr wrap="none" rtlCol="0">
            <a:sp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3">
            <a:extLst>
              <a:ext uri="{FF2B5EF4-FFF2-40B4-BE49-F238E27FC236}">
                <a16:creationId xmlns:a16="http://schemas.microsoft.com/office/drawing/2014/main" id="{906B5164-E4BD-764E-00E2-D678EB927DAF}"/>
              </a:ext>
            </a:extLst>
          </p:cNvPr>
          <p:cNvSpPr/>
          <p:nvPr/>
        </p:nvSpPr>
        <p:spPr>
          <a:xfrm>
            <a:off x="890219" y="2696351"/>
            <a:ext cx="4867252" cy="2923119"/>
          </a:xfrm>
          <a:prstGeom prst="roundRect">
            <a:avLst>
              <a:gd name="adj" fmla="val 3160"/>
            </a:avLst>
          </a:prstGeom>
          <a:solidFill>
            <a:srgbClr val="D9EDF2"/>
          </a:solidFill>
          <a:ln w="7620">
            <a:solidFill>
              <a:srgbClr val="BFD3D8"/>
            </a:solidFill>
            <a:prstDash val="solid"/>
          </a:ln>
        </p:spPr>
        <p:txBody>
          <a:bodyPr/>
          <a:lstStyle/>
          <a:p>
            <a:endParaRPr lang="en-US" dirty="0"/>
          </a:p>
        </p:txBody>
      </p:sp>
      <p:sp>
        <p:nvSpPr>
          <p:cNvPr id="2" name="Shape 0"/>
          <p:cNvSpPr/>
          <p:nvPr/>
        </p:nvSpPr>
        <p:spPr>
          <a:xfrm>
            <a:off x="890219" y="1018631"/>
            <a:ext cx="1659677"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943102" y="1065810"/>
            <a:ext cx="114051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 DATA OVERVIEW</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90219" y="1437821"/>
            <a:ext cx="7837983"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Dataset Characteristics and Sources</a:t>
            </a:r>
            <a:endParaRPr lang="en-US" sz="3500" b="1" dirty="0">
              <a:latin typeface="Times New Roman" panose="02020603050405020304" pitchFamily="18" charset="0"/>
              <a:cs typeface="Times New Roman" panose="02020603050405020304" pitchFamily="18" charset="0"/>
            </a:endParaRPr>
          </a:p>
        </p:txBody>
      </p:sp>
      <p:sp>
        <p:nvSpPr>
          <p:cNvPr id="6" name="Text 4"/>
          <p:cNvSpPr/>
          <p:nvPr/>
        </p:nvSpPr>
        <p:spPr>
          <a:xfrm>
            <a:off x="1102674" y="3026211"/>
            <a:ext cx="2835275" cy="354409"/>
          </a:xfrm>
          <a:prstGeom prst="rect">
            <a:avLst/>
          </a:prstGeom>
          <a:noFill/>
          <a:ln/>
        </p:spPr>
        <p:txBody>
          <a:bodyPr wrap="none" lIns="0" tIns="0" rIns="0" bIns="0" rtlCol="0" anchor="t"/>
          <a:lstStyle/>
          <a:p>
            <a:pPr>
              <a:lnSpc>
                <a:spcPts val="2750"/>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Data Collection</a:t>
            </a:r>
            <a:endParaRPr lang="en-US" b="1" dirty="0">
              <a:latin typeface="Times New Roman" panose="02020603050405020304" pitchFamily="18" charset="0"/>
              <a:cs typeface="Times New Roman" panose="02020603050405020304" pitchFamily="18" charset="0"/>
            </a:endParaRPr>
          </a:p>
        </p:txBody>
      </p:sp>
      <p:sp>
        <p:nvSpPr>
          <p:cNvPr id="7" name="Text 5"/>
          <p:cNvSpPr/>
          <p:nvPr/>
        </p:nvSpPr>
        <p:spPr>
          <a:xfrm>
            <a:off x="1102674" y="3557824"/>
            <a:ext cx="4361719" cy="850404"/>
          </a:xfrm>
          <a:prstGeom prst="rect">
            <a:avLst/>
          </a:prstGeom>
          <a:noFill/>
          <a:ln/>
        </p:spPr>
        <p:txBody>
          <a:bodyPr wrap="square" lIns="0" tIns="0" rIns="0" bIns="0" rtlCol="0" anchor="t"/>
          <a:lstStyle/>
          <a:p>
            <a:pPr algn="just"/>
            <a:r>
              <a:rPr lang="en-IN" sz="1600" dirty="0">
                <a:latin typeface="Times New Roman" panose="02020603050405020304" pitchFamily="18" charset="0"/>
                <a:cs typeface="Times New Roman" panose="02020603050405020304" pitchFamily="18" charset="0"/>
              </a:rPr>
              <a:t>Air quality data for Indian cities (city-day level) from Kaggle: Air Quality Data in India (daily pollution measurements across multiple locations).</a:t>
            </a:r>
          </a:p>
        </p:txBody>
      </p:sp>
      <p:sp>
        <p:nvSpPr>
          <p:cNvPr id="8" name="Text 6"/>
          <p:cNvSpPr/>
          <p:nvPr/>
        </p:nvSpPr>
        <p:spPr>
          <a:xfrm>
            <a:off x="1102674" y="4873047"/>
            <a:ext cx="5098157" cy="566936"/>
          </a:xfrm>
          <a:prstGeom prst="rect">
            <a:avLst/>
          </a:prstGeom>
          <a:noFill/>
          <a:ln/>
        </p:spPr>
        <p:txBody>
          <a:bodyPr wrap="square" lIns="0" tIns="0" rIns="0" bIns="0" rtlCol="0" anchor="t"/>
          <a:lstStyle/>
          <a:p>
            <a:r>
              <a:rPr lang="en-US" b="1" dirty="0">
                <a:solidFill>
                  <a:srgbClr val="000000"/>
                </a:solidFill>
                <a:latin typeface="Times New Roman" panose="02020603050405020304" pitchFamily="18" charset="0"/>
                <a:ea typeface="Roboto" pitchFamily="34" charset="-122"/>
                <a:cs typeface="Times New Roman" panose="02020603050405020304" pitchFamily="18" charset="0"/>
              </a:rPr>
              <a:t>Time Period:</a:t>
            </a:r>
            <a:r>
              <a:rPr lang="en-US" dirty="0">
                <a:solidFill>
                  <a:srgbClr val="000000"/>
                </a:solidFill>
                <a:latin typeface="Times New Roman" panose="02020603050405020304" pitchFamily="18" charset="0"/>
                <a:ea typeface="Roboto" pitchFamily="34" charset="-122"/>
                <a:cs typeface="Times New Roman" panose="02020603050405020304" pitchFamily="18" charset="0"/>
              </a:rPr>
              <a:t> </a:t>
            </a:r>
          </a:p>
          <a:p>
            <a:r>
              <a:rPr lang="en-US" sz="1600" dirty="0">
                <a:solidFill>
                  <a:srgbClr val="000000"/>
                </a:solidFill>
                <a:latin typeface="Times New Roman" panose="02020603050405020304" pitchFamily="18" charset="0"/>
                <a:ea typeface="Roboto" pitchFamily="34" charset="-122"/>
                <a:cs typeface="Times New Roman" panose="02020603050405020304" pitchFamily="18" charset="0"/>
              </a:rPr>
              <a:t>Multi-year historical records from year 2015 to 2020</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6332935" y="2994091"/>
            <a:ext cx="2835275" cy="354409"/>
          </a:xfrm>
          <a:prstGeom prst="rect">
            <a:avLst/>
          </a:prstGeom>
          <a:noFill/>
          <a:ln/>
        </p:spPr>
        <p:txBody>
          <a:bodyPr wrap="none" lIns="0" tIns="0" rIns="0" bIns="0" rtlCol="0" anchor="t"/>
          <a:lstStyle/>
          <a:p>
            <a:pPr>
              <a:lnSpc>
                <a:spcPts val="2750"/>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Key Features</a:t>
            </a:r>
            <a:endParaRPr lang="en-US" b="1" dirty="0">
              <a:latin typeface="Times New Roman" panose="02020603050405020304" pitchFamily="18" charset="0"/>
              <a:cs typeface="Times New Roman" panose="02020603050405020304" pitchFamily="18" charset="0"/>
            </a:endParaRPr>
          </a:p>
        </p:txBody>
      </p:sp>
      <p:sp>
        <p:nvSpPr>
          <p:cNvPr id="10" name="Text 8"/>
          <p:cNvSpPr/>
          <p:nvPr/>
        </p:nvSpPr>
        <p:spPr>
          <a:xfrm>
            <a:off x="6332935" y="3525704"/>
            <a:ext cx="5203924" cy="1984746"/>
          </a:xfrm>
          <a:prstGeom prst="rect">
            <a:avLst/>
          </a:prstGeom>
          <a:noFill/>
          <a:ln/>
        </p:spPr>
        <p:txBody>
          <a:bodyPr wrap="square" lIns="0" tIns="0" rIns="0" bIns="0" rtlCol="0" anchor="t"/>
          <a:lstStyle/>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Particulate Matter:</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PM2.5 concentrations (fine particles)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Nitrogen Compounds:</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NO, NO₂, NOₓ levels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Carbon Monoxide: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CO measurements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Sulphur Dioxide: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SO₂ concentrations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Ground-level Ozone: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O₃ readings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Target Variable: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Air Quality Index (AQI)</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p:cNvSpPr/>
          <p:nvPr/>
        </p:nvSpPr>
        <p:spPr>
          <a:xfrm>
            <a:off x="7736568" y="2827546"/>
            <a:ext cx="1582049" cy="493703"/>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Date Feature Engineering</a:t>
            </a:r>
            <a:endParaRPr lang="en-US" sz="1400" b="1" dirty="0">
              <a:latin typeface="Times New Roman" panose="02020603050405020304" pitchFamily="18" charset="0"/>
              <a:cs typeface="Times New Roman" panose="02020603050405020304" pitchFamily="18" charset="0"/>
            </a:endParaRPr>
          </a:p>
        </p:txBody>
      </p:sp>
      <p:sp>
        <p:nvSpPr>
          <p:cNvPr id="7" name="Text 2"/>
          <p:cNvSpPr/>
          <p:nvPr/>
        </p:nvSpPr>
        <p:spPr>
          <a:xfrm>
            <a:off x="6231043" y="2815849"/>
            <a:ext cx="1415197" cy="385024"/>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Outlier Removal Using IQR</a:t>
            </a:r>
            <a:endParaRPr lang="en-US" sz="1400" b="1" dirty="0">
              <a:latin typeface="Times New Roman" panose="02020603050405020304" pitchFamily="18" charset="0"/>
              <a:cs typeface="Times New Roman" panose="02020603050405020304" pitchFamily="18" charset="0"/>
            </a:endParaRPr>
          </a:p>
        </p:txBody>
      </p:sp>
      <p:sp>
        <p:nvSpPr>
          <p:cNvPr id="9" name="Text 3"/>
          <p:cNvSpPr/>
          <p:nvPr/>
        </p:nvSpPr>
        <p:spPr>
          <a:xfrm>
            <a:off x="4398805" y="2839236"/>
            <a:ext cx="1886404" cy="389706"/>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Median Impute Pollutants</a:t>
            </a:r>
            <a:endParaRPr lang="en-US" sz="1400" b="1" dirty="0">
              <a:latin typeface="Times New Roman" panose="02020603050405020304" pitchFamily="18" charset="0"/>
              <a:cs typeface="Times New Roman" panose="02020603050405020304" pitchFamily="18" charset="0"/>
            </a:endParaRPr>
          </a:p>
        </p:txBody>
      </p:sp>
      <p:sp>
        <p:nvSpPr>
          <p:cNvPr id="11" name="Text 4"/>
          <p:cNvSpPr/>
          <p:nvPr/>
        </p:nvSpPr>
        <p:spPr>
          <a:xfrm>
            <a:off x="3037804" y="2839236"/>
            <a:ext cx="1415167" cy="269542"/>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Remove Missing AQI</a:t>
            </a:r>
            <a:endParaRPr lang="en-US" sz="1400" b="1" dirty="0">
              <a:latin typeface="Times New Roman" panose="02020603050405020304" pitchFamily="18" charset="0"/>
              <a:cs typeface="Times New Roman" panose="02020603050405020304" pitchFamily="18" charset="0"/>
            </a:endParaRPr>
          </a:p>
        </p:txBody>
      </p:sp>
      <p:sp>
        <p:nvSpPr>
          <p:cNvPr id="29" name="Shape 3">
            <a:extLst>
              <a:ext uri="{FF2B5EF4-FFF2-40B4-BE49-F238E27FC236}">
                <a16:creationId xmlns:a16="http://schemas.microsoft.com/office/drawing/2014/main" id="{C837356C-1087-177B-BE55-4BA90074DAD6}"/>
              </a:ext>
            </a:extLst>
          </p:cNvPr>
          <p:cNvSpPr/>
          <p:nvPr/>
        </p:nvSpPr>
        <p:spPr>
          <a:xfrm>
            <a:off x="1224201" y="3436215"/>
            <a:ext cx="4871799"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30" name="Image 0" descr="preencoded.png">
            <a:extLst>
              <a:ext uri="{FF2B5EF4-FFF2-40B4-BE49-F238E27FC236}">
                <a16:creationId xmlns:a16="http://schemas.microsoft.com/office/drawing/2014/main" id="{D827A60D-7CE1-32A5-71F8-388025677EB1}"/>
              </a:ext>
            </a:extLst>
          </p:cNvPr>
          <p:cNvPicPr>
            <a:picLocks noChangeAspect="1"/>
          </p:cNvPicPr>
          <p:nvPr/>
        </p:nvPicPr>
        <p:blipFill>
          <a:blip r:embed="rId3"/>
          <a:stretch>
            <a:fillRect/>
          </a:stretch>
        </p:blipFill>
        <p:spPr>
          <a:xfrm>
            <a:off x="1198800" y="3436215"/>
            <a:ext cx="101600" cy="1495500"/>
          </a:xfrm>
          <a:prstGeom prst="rect">
            <a:avLst/>
          </a:prstGeom>
        </p:spPr>
      </p:pic>
      <p:sp>
        <p:nvSpPr>
          <p:cNvPr id="31" name="Text 4">
            <a:extLst>
              <a:ext uri="{FF2B5EF4-FFF2-40B4-BE49-F238E27FC236}">
                <a16:creationId xmlns:a16="http://schemas.microsoft.com/office/drawing/2014/main" id="{2F0656CC-5E26-23A0-8D2D-DA443F24C4B5}"/>
              </a:ext>
            </a:extLst>
          </p:cNvPr>
          <p:cNvSpPr/>
          <p:nvPr/>
        </p:nvSpPr>
        <p:spPr>
          <a:xfrm>
            <a:off x="1395924" y="3625358"/>
            <a:ext cx="2362696"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AQI Records Removal</a:t>
            </a:r>
            <a:endParaRPr lang="en-US" b="1" dirty="0">
              <a:latin typeface="Times New Roman" panose="02020603050405020304" pitchFamily="18" charset="0"/>
              <a:cs typeface="Times New Roman" panose="02020603050405020304" pitchFamily="18" charset="0"/>
            </a:endParaRPr>
          </a:p>
        </p:txBody>
      </p:sp>
      <p:sp>
        <p:nvSpPr>
          <p:cNvPr id="32" name="Text 5">
            <a:extLst>
              <a:ext uri="{FF2B5EF4-FFF2-40B4-BE49-F238E27FC236}">
                <a16:creationId xmlns:a16="http://schemas.microsoft.com/office/drawing/2014/main" id="{1A662231-F466-5BDF-E237-53081A07E19F}"/>
              </a:ext>
            </a:extLst>
          </p:cNvPr>
          <p:cNvSpPr/>
          <p:nvPr/>
        </p:nvSpPr>
        <p:spPr>
          <a:xfrm>
            <a:off x="1395923" y="4056503"/>
            <a:ext cx="4510851"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Removed rows where Air Quality Index (AQI) was missing, since supervised learning models need correct output labels to learn properly.</a:t>
            </a:r>
            <a:endParaRPr lang="en-US" sz="1600" dirty="0">
              <a:latin typeface="Times New Roman" panose="02020603050405020304" pitchFamily="18" charset="0"/>
              <a:cs typeface="Times New Roman" panose="02020603050405020304" pitchFamily="18" charset="0"/>
            </a:endParaRPr>
          </a:p>
        </p:txBody>
      </p:sp>
      <p:sp>
        <p:nvSpPr>
          <p:cNvPr id="33" name="Shape 6">
            <a:extLst>
              <a:ext uri="{FF2B5EF4-FFF2-40B4-BE49-F238E27FC236}">
                <a16:creationId xmlns:a16="http://schemas.microsoft.com/office/drawing/2014/main" id="{77419F63-52BA-D691-9E9B-BAD6E04ED09C}"/>
              </a:ext>
            </a:extLst>
          </p:cNvPr>
          <p:cNvSpPr/>
          <p:nvPr/>
        </p:nvSpPr>
        <p:spPr>
          <a:xfrm>
            <a:off x="6310626" y="3436215"/>
            <a:ext cx="4871890"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34" name="Image 1" descr="preencoded.png">
            <a:extLst>
              <a:ext uri="{FF2B5EF4-FFF2-40B4-BE49-F238E27FC236}">
                <a16:creationId xmlns:a16="http://schemas.microsoft.com/office/drawing/2014/main" id="{A25D1E70-65E5-266A-3EB4-A8A02E03DA2C}"/>
              </a:ext>
            </a:extLst>
          </p:cNvPr>
          <p:cNvPicPr>
            <a:picLocks noChangeAspect="1"/>
          </p:cNvPicPr>
          <p:nvPr/>
        </p:nvPicPr>
        <p:blipFill>
          <a:blip r:embed="rId3"/>
          <a:stretch>
            <a:fillRect/>
          </a:stretch>
        </p:blipFill>
        <p:spPr>
          <a:xfrm>
            <a:off x="6285224" y="3436215"/>
            <a:ext cx="101600" cy="1495500"/>
          </a:xfrm>
          <a:prstGeom prst="rect">
            <a:avLst/>
          </a:prstGeom>
        </p:spPr>
      </p:pic>
      <p:sp>
        <p:nvSpPr>
          <p:cNvPr id="35" name="Text 7">
            <a:extLst>
              <a:ext uri="{FF2B5EF4-FFF2-40B4-BE49-F238E27FC236}">
                <a16:creationId xmlns:a16="http://schemas.microsoft.com/office/drawing/2014/main" id="{04935C2E-EBFD-FE29-8BF3-6310889D133D}"/>
              </a:ext>
            </a:extLst>
          </p:cNvPr>
          <p:cNvSpPr/>
          <p:nvPr/>
        </p:nvSpPr>
        <p:spPr>
          <a:xfrm>
            <a:off x="6482348" y="3625358"/>
            <a:ext cx="3012282"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Median Imputation Strategy</a:t>
            </a:r>
            <a:endParaRPr lang="en-US" b="1" dirty="0">
              <a:latin typeface="Times New Roman" panose="02020603050405020304" pitchFamily="18" charset="0"/>
              <a:cs typeface="Times New Roman" panose="02020603050405020304" pitchFamily="18" charset="0"/>
            </a:endParaRPr>
          </a:p>
        </p:txBody>
      </p:sp>
      <p:sp>
        <p:nvSpPr>
          <p:cNvPr id="36" name="Text 8">
            <a:extLst>
              <a:ext uri="{FF2B5EF4-FFF2-40B4-BE49-F238E27FC236}">
                <a16:creationId xmlns:a16="http://schemas.microsoft.com/office/drawing/2014/main" id="{630F74FA-E1FA-4907-65EA-0A21BC2B8557}"/>
              </a:ext>
            </a:extLst>
          </p:cNvPr>
          <p:cNvSpPr/>
          <p:nvPr/>
        </p:nvSpPr>
        <p:spPr>
          <a:xfrm>
            <a:off x="6482349" y="4056503"/>
            <a:ext cx="4510943"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Used Median values to fill missing pollution data instead of mean as environmental data is often uneven affected by extreme values</a:t>
            </a:r>
            <a:endParaRPr lang="en-US" sz="1600" dirty="0">
              <a:latin typeface="Times New Roman" panose="02020603050405020304" pitchFamily="18" charset="0"/>
              <a:cs typeface="Times New Roman" panose="02020603050405020304" pitchFamily="18" charset="0"/>
            </a:endParaRPr>
          </a:p>
        </p:txBody>
      </p:sp>
      <p:sp>
        <p:nvSpPr>
          <p:cNvPr id="37" name="Shape 9">
            <a:extLst>
              <a:ext uri="{FF2B5EF4-FFF2-40B4-BE49-F238E27FC236}">
                <a16:creationId xmlns:a16="http://schemas.microsoft.com/office/drawing/2014/main" id="{BBD37EB9-794F-3B7F-3C15-0176356FDAAA}"/>
              </a:ext>
            </a:extLst>
          </p:cNvPr>
          <p:cNvSpPr/>
          <p:nvPr/>
        </p:nvSpPr>
        <p:spPr>
          <a:xfrm>
            <a:off x="1224201" y="5090400"/>
            <a:ext cx="4871799"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38" name="Image 2" descr="preencoded.png">
            <a:extLst>
              <a:ext uri="{FF2B5EF4-FFF2-40B4-BE49-F238E27FC236}">
                <a16:creationId xmlns:a16="http://schemas.microsoft.com/office/drawing/2014/main" id="{C935F077-D3EB-4AA4-8BF0-971F3AF39FA2}"/>
              </a:ext>
            </a:extLst>
          </p:cNvPr>
          <p:cNvPicPr>
            <a:picLocks noChangeAspect="1"/>
          </p:cNvPicPr>
          <p:nvPr/>
        </p:nvPicPr>
        <p:blipFill>
          <a:blip r:embed="rId3"/>
          <a:stretch>
            <a:fillRect/>
          </a:stretch>
        </p:blipFill>
        <p:spPr>
          <a:xfrm>
            <a:off x="1198800" y="5090400"/>
            <a:ext cx="101600" cy="1495500"/>
          </a:xfrm>
          <a:prstGeom prst="rect">
            <a:avLst/>
          </a:prstGeom>
        </p:spPr>
      </p:pic>
      <p:sp>
        <p:nvSpPr>
          <p:cNvPr id="39" name="Text 10">
            <a:extLst>
              <a:ext uri="{FF2B5EF4-FFF2-40B4-BE49-F238E27FC236}">
                <a16:creationId xmlns:a16="http://schemas.microsoft.com/office/drawing/2014/main" id="{4DFB85B0-D2CE-CF39-D4D1-54F0835DD41B}"/>
              </a:ext>
            </a:extLst>
          </p:cNvPr>
          <p:cNvSpPr/>
          <p:nvPr/>
        </p:nvSpPr>
        <p:spPr>
          <a:xfrm>
            <a:off x="1395923" y="5279542"/>
            <a:ext cx="2572842"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Outlier Removal Using IQR</a:t>
            </a:r>
            <a:endParaRPr lang="en-US" b="1" dirty="0">
              <a:latin typeface="Times New Roman" panose="02020603050405020304" pitchFamily="18" charset="0"/>
              <a:cs typeface="Times New Roman" panose="02020603050405020304" pitchFamily="18" charset="0"/>
            </a:endParaRPr>
          </a:p>
        </p:txBody>
      </p:sp>
      <p:sp>
        <p:nvSpPr>
          <p:cNvPr id="40" name="Text 11">
            <a:extLst>
              <a:ext uri="{FF2B5EF4-FFF2-40B4-BE49-F238E27FC236}">
                <a16:creationId xmlns:a16="http://schemas.microsoft.com/office/drawing/2014/main" id="{FE62EE46-DE46-D5A0-867B-2AF71D22DED8}"/>
              </a:ext>
            </a:extLst>
          </p:cNvPr>
          <p:cNvSpPr/>
          <p:nvPr/>
        </p:nvSpPr>
        <p:spPr>
          <a:xfrm>
            <a:off x="1395923" y="5698964"/>
            <a:ext cx="4510851"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Applied the Interquartile Range(IQR) method to detect and remove extreme pollution values that could negatively impact model performance.</a:t>
            </a:r>
            <a:endParaRPr lang="en-US" sz="1600" dirty="0">
              <a:latin typeface="Times New Roman" panose="02020603050405020304" pitchFamily="18" charset="0"/>
              <a:cs typeface="Times New Roman" panose="02020603050405020304" pitchFamily="18" charset="0"/>
            </a:endParaRPr>
          </a:p>
        </p:txBody>
      </p:sp>
      <p:sp>
        <p:nvSpPr>
          <p:cNvPr id="41" name="Shape 12">
            <a:extLst>
              <a:ext uri="{FF2B5EF4-FFF2-40B4-BE49-F238E27FC236}">
                <a16:creationId xmlns:a16="http://schemas.microsoft.com/office/drawing/2014/main" id="{3CC7CA2A-5DAF-3B13-C495-9CD1E37CE373}"/>
              </a:ext>
            </a:extLst>
          </p:cNvPr>
          <p:cNvSpPr/>
          <p:nvPr/>
        </p:nvSpPr>
        <p:spPr>
          <a:xfrm>
            <a:off x="6310626" y="5090400"/>
            <a:ext cx="4871890"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42" name="Image 3" descr="preencoded.png">
            <a:extLst>
              <a:ext uri="{FF2B5EF4-FFF2-40B4-BE49-F238E27FC236}">
                <a16:creationId xmlns:a16="http://schemas.microsoft.com/office/drawing/2014/main" id="{CDCF9DD7-DF98-5CE4-AD45-517E52954529}"/>
              </a:ext>
            </a:extLst>
          </p:cNvPr>
          <p:cNvPicPr>
            <a:picLocks noChangeAspect="1"/>
          </p:cNvPicPr>
          <p:nvPr/>
        </p:nvPicPr>
        <p:blipFill>
          <a:blip r:embed="rId3"/>
          <a:stretch>
            <a:fillRect/>
          </a:stretch>
        </p:blipFill>
        <p:spPr>
          <a:xfrm>
            <a:off x="6285224" y="5090400"/>
            <a:ext cx="101600" cy="1495500"/>
          </a:xfrm>
          <a:prstGeom prst="rect">
            <a:avLst/>
          </a:prstGeom>
        </p:spPr>
      </p:pic>
      <p:sp>
        <p:nvSpPr>
          <p:cNvPr id="43" name="Text 13">
            <a:extLst>
              <a:ext uri="{FF2B5EF4-FFF2-40B4-BE49-F238E27FC236}">
                <a16:creationId xmlns:a16="http://schemas.microsoft.com/office/drawing/2014/main" id="{CEB3FD1E-A511-3D61-956A-EA3981A8ABF5}"/>
              </a:ext>
            </a:extLst>
          </p:cNvPr>
          <p:cNvSpPr/>
          <p:nvPr/>
        </p:nvSpPr>
        <p:spPr>
          <a:xfrm>
            <a:off x="6482349" y="5279542"/>
            <a:ext cx="2836268"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Date Feature Creation</a:t>
            </a:r>
            <a:endParaRPr lang="en-US" b="1" dirty="0">
              <a:latin typeface="Times New Roman" panose="02020603050405020304" pitchFamily="18" charset="0"/>
              <a:cs typeface="Times New Roman" panose="02020603050405020304" pitchFamily="18" charset="0"/>
            </a:endParaRPr>
          </a:p>
        </p:txBody>
      </p:sp>
      <p:sp>
        <p:nvSpPr>
          <p:cNvPr id="44" name="Text 14">
            <a:extLst>
              <a:ext uri="{FF2B5EF4-FFF2-40B4-BE49-F238E27FC236}">
                <a16:creationId xmlns:a16="http://schemas.microsoft.com/office/drawing/2014/main" id="{42F41675-F193-9DEC-0333-2EE00D33B164}"/>
              </a:ext>
            </a:extLst>
          </p:cNvPr>
          <p:cNvSpPr/>
          <p:nvPr/>
        </p:nvSpPr>
        <p:spPr>
          <a:xfrm>
            <a:off x="6482349" y="5710687"/>
            <a:ext cx="4510943"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Transformed date data into useful features like month and season to better capture repeating pollution pattern influenced by weather changes and human activities</a:t>
            </a:r>
            <a:endParaRPr lang="en-US" sz="1600" dirty="0">
              <a:latin typeface="Times New Roman" panose="02020603050405020304" pitchFamily="18" charset="0"/>
              <a:cs typeface="Times New Roman" panose="02020603050405020304" pitchFamily="18" charset="0"/>
            </a:endParaRPr>
          </a:p>
        </p:txBody>
      </p:sp>
      <p:sp>
        <p:nvSpPr>
          <p:cNvPr id="45" name="Text 2">
            <a:extLst>
              <a:ext uri="{FF2B5EF4-FFF2-40B4-BE49-F238E27FC236}">
                <a16:creationId xmlns:a16="http://schemas.microsoft.com/office/drawing/2014/main" id="{F00142DD-2D0D-DF42-6096-700E71BE29D2}"/>
              </a:ext>
            </a:extLst>
          </p:cNvPr>
          <p:cNvSpPr/>
          <p:nvPr/>
        </p:nvSpPr>
        <p:spPr>
          <a:xfrm>
            <a:off x="1995175" y="365109"/>
            <a:ext cx="8201648"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Handling Missing Values and Data Quality</a:t>
            </a:r>
            <a:endParaRPr lang="en-US" sz="35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3451C7E-0BE5-2DD6-947D-8BDDB94BB242}"/>
              </a:ext>
            </a:extLst>
          </p:cNvPr>
          <p:cNvPicPr>
            <a:picLocks noChangeAspect="1"/>
          </p:cNvPicPr>
          <p:nvPr/>
        </p:nvPicPr>
        <p:blipFill>
          <a:blip r:embed="rId4"/>
          <a:stretch>
            <a:fillRect/>
          </a:stretch>
        </p:blipFill>
        <p:spPr>
          <a:xfrm>
            <a:off x="2682344" y="-92764"/>
            <a:ext cx="6812286" cy="41477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8339" y="995208"/>
            <a:ext cx="6306085" cy="492621"/>
          </a:xfrm>
          <a:prstGeom prst="rect">
            <a:avLst/>
          </a:prstGeom>
          <a:noFill/>
          <a:ln/>
        </p:spPr>
        <p:txBody>
          <a:bodyPr wrap="none" lIns="0" tIns="0" rIns="0" bIns="0" rtlCol="0" anchor="t"/>
          <a:lstStyle/>
          <a:p>
            <a:pPr>
              <a:lnSpc>
                <a:spcPts val="387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Feature Engineering Approach</a:t>
            </a:r>
            <a:endParaRPr lang="en-US" sz="3500" b="1" dirty="0">
              <a:latin typeface="Times New Roman" panose="02020603050405020304" pitchFamily="18" charset="0"/>
              <a:cs typeface="Times New Roman" panose="02020603050405020304" pitchFamily="18" charset="0"/>
            </a:endParaRPr>
          </a:p>
        </p:txBody>
      </p:sp>
      <p:sp>
        <p:nvSpPr>
          <p:cNvPr id="3" name="Text 1"/>
          <p:cNvSpPr/>
          <p:nvPr/>
        </p:nvSpPr>
        <p:spPr>
          <a:xfrm>
            <a:off x="598342" y="2121877"/>
            <a:ext cx="3703561" cy="295473"/>
          </a:xfrm>
          <a:prstGeom prst="rect">
            <a:avLst/>
          </a:prstGeom>
          <a:noFill/>
          <a:ln/>
        </p:spPr>
        <p:txBody>
          <a:bodyPr wrap="none" lIns="0" tIns="0" rIns="0" bIns="0" rtlCol="0" anchor="t"/>
          <a:lstStyle/>
          <a:p>
            <a:pPr>
              <a:lnSpc>
                <a:spcPts val="2292"/>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Strategic Variable Selection</a:t>
            </a:r>
            <a:endParaRPr lang="en-US" b="1" dirty="0">
              <a:latin typeface="Times New Roman" panose="02020603050405020304" pitchFamily="18" charset="0"/>
              <a:cs typeface="Times New Roman" panose="02020603050405020304" pitchFamily="18" charset="0"/>
            </a:endParaRPr>
          </a:p>
        </p:txBody>
      </p:sp>
      <p:sp>
        <p:nvSpPr>
          <p:cNvPr id="4" name="Text 2"/>
          <p:cNvSpPr/>
          <p:nvPr/>
        </p:nvSpPr>
        <p:spPr>
          <a:xfrm>
            <a:off x="598342" y="2477221"/>
            <a:ext cx="4125591" cy="1300758"/>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Feature Engineering was aimed at finding the pollutants that have the strongest statistical relationship with changes in AQI. Through data analysis PM2.5,NO</a:t>
            </a:r>
            <a:r>
              <a:rPr lang="en-US" sz="1600" baseline="-25000" dirty="0">
                <a:solidFill>
                  <a:srgbClr val="384653"/>
                </a:solidFill>
                <a:latin typeface="Times New Roman" panose="02020603050405020304" pitchFamily="18" charset="0"/>
                <a:ea typeface="Roboto" pitchFamily="34" charset="-122"/>
                <a:cs typeface="Times New Roman" panose="02020603050405020304" pitchFamily="18" charset="0"/>
              </a:rPr>
              <a:t>2</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and O</a:t>
            </a:r>
            <a:r>
              <a:rPr lang="en-US" sz="1600" baseline="-25000" dirty="0">
                <a:solidFill>
                  <a:srgbClr val="384653"/>
                </a:solidFill>
                <a:latin typeface="Times New Roman" panose="02020603050405020304" pitchFamily="18" charset="0"/>
                <a:ea typeface="Roboto" pitchFamily="34" charset="-122"/>
                <a:cs typeface="Times New Roman" panose="02020603050405020304" pitchFamily="18" charset="0"/>
              </a:rPr>
              <a:t>3</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were identified as the main factors influencing AQI levels.</a:t>
            </a:r>
            <a:endParaRPr lang="en-IN" sz="1600" baseline="-250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598340" y="3961896"/>
            <a:ext cx="3820793" cy="295473"/>
          </a:xfrm>
          <a:prstGeom prst="rect">
            <a:avLst/>
          </a:prstGeom>
          <a:noFill/>
          <a:ln/>
        </p:spPr>
        <p:txBody>
          <a:bodyPr wrap="none" lIns="0" tIns="0" rIns="0" bIns="0" rtlCol="0" anchor="t"/>
          <a:lstStyle/>
          <a:p>
            <a:pPr>
              <a:lnSpc>
                <a:spcPts val="2292"/>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Seasonal Pattern Integration</a:t>
            </a:r>
            <a:endParaRPr lang="en-US" b="1" dirty="0">
              <a:latin typeface="Times New Roman" panose="02020603050405020304" pitchFamily="18" charset="0"/>
              <a:cs typeface="Times New Roman" panose="02020603050405020304" pitchFamily="18" charset="0"/>
            </a:endParaRPr>
          </a:p>
        </p:txBody>
      </p:sp>
      <p:sp>
        <p:nvSpPr>
          <p:cNvPr id="6" name="Text 4"/>
          <p:cNvSpPr/>
          <p:nvPr/>
        </p:nvSpPr>
        <p:spPr>
          <a:xfrm>
            <a:off x="598342" y="4300140"/>
            <a:ext cx="4125591" cy="1432223"/>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Added time-based features to reflect seasonal changes in pollution levels. Pollution usually rises during winter because temperature inversions trap pollutants near the ground, while the monsoon season often helps reduce pollution naturally through rainfall.</a:t>
            </a:r>
            <a:endParaRPr lang="en-US" sz="16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8AAC976-BF70-5018-4D73-563AED45FED4}"/>
              </a:ext>
            </a:extLst>
          </p:cNvPr>
          <p:cNvPicPr>
            <a:picLocks noChangeAspect="1"/>
          </p:cNvPicPr>
          <p:nvPr/>
        </p:nvPicPr>
        <p:blipFill>
          <a:blip r:embed="rId3"/>
          <a:srcRect l="2102" t="3837" r="3022" b="17329"/>
          <a:stretch>
            <a:fillRect/>
          </a:stretch>
        </p:blipFill>
        <p:spPr>
          <a:xfrm>
            <a:off x="4881104" y="2121877"/>
            <a:ext cx="6712554" cy="3610486"/>
          </a:xfrm>
          <a:prstGeom prst="rect">
            <a:avLst/>
          </a:prstGeom>
          <a:effectLst>
            <a:glow>
              <a:schemeClr val="accent1">
                <a:alpha val="40000"/>
              </a:schemeClr>
            </a:glow>
            <a:outerShdw sx="1000" sy="1000" algn="ctr" rotWithShape="0">
              <a:srgbClr val="000000"/>
            </a:outerShdw>
            <a:reflection endPos="0" dist="50800" dir="5400000" sy="-100000" algn="bl" rotWithShape="0"/>
            <a:softEdge rad="0"/>
          </a:effectLst>
        </p:spPr>
      </p:pic>
      <p:sp>
        <p:nvSpPr>
          <p:cNvPr id="7" name="Shape 0">
            <a:extLst>
              <a:ext uri="{FF2B5EF4-FFF2-40B4-BE49-F238E27FC236}">
                <a16:creationId xmlns:a16="http://schemas.microsoft.com/office/drawing/2014/main" id="{47C18541-B7EC-AE8F-0F7B-FD23A284EB76}"/>
              </a:ext>
            </a:extLst>
          </p:cNvPr>
          <p:cNvSpPr/>
          <p:nvPr/>
        </p:nvSpPr>
        <p:spPr>
          <a:xfrm>
            <a:off x="598340" y="531135"/>
            <a:ext cx="1863039"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8" name="Text 1">
            <a:extLst>
              <a:ext uri="{FF2B5EF4-FFF2-40B4-BE49-F238E27FC236}">
                <a16:creationId xmlns:a16="http://schemas.microsoft.com/office/drawing/2014/main" id="{0EB873A6-D76B-4543-0ADB-DA8598CF3130}"/>
              </a:ext>
            </a:extLst>
          </p:cNvPr>
          <p:cNvSpPr/>
          <p:nvPr/>
        </p:nvSpPr>
        <p:spPr>
          <a:xfrm>
            <a:off x="745007" y="578314"/>
            <a:ext cx="1140519" cy="226814"/>
          </a:xfrm>
          <a:prstGeom prst="rect">
            <a:avLst/>
          </a:prstGeom>
          <a:noFill/>
          <a:ln/>
        </p:spPr>
        <p:txBody>
          <a:bodyPr wrap="none" lIns="0" tIns="0" rIns="0" bIns="0" rtlCol="0" anchor="t"/>
          <a:lstStyle/>
          <a:p>
            <a:pPr>
              <a:lnSpc>
                <a:spcPts val="1750"/>
              </a:lnSpc>
            </a:pPr>
            <a:r>
              <a:rPr lang="en-US" sz="1400" dirty="0">
                <a:latin typeface="Times New Roman" panose="02020603050405020304" pitchFamily="18" charset="0"/>
                <a:cs typeface="Times New Roman" panose="02020603050405020304" pitchFamily="18" charset="0"/>
              </a:rPr>
              <a:t>FEATURES ADDED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29880" y="544592"/>
            <a:ext cx="2210662"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1143287" y="601247"/>
            <a:ext cx="159652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MODEL DEVELOPMENT</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1029880" y="960319"/>
            <a:ext cx="8515548"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Random Forest Regression Architecture</a:t>
            </a:r>
            <a:endParaRPr lang="en-US" sz="3500" b="1" dirty="0">
              <a:latin typeface="Times New Roman" panose="02020603050405020304" pitchFamily="18" charset="0"/>
              <a:cs typeface="Times New Roman" panose="02020603050405020304" pitchFamily="18" charset="0"/>
            </a:endParaRPr>
          </a:p>
        </p:txBody>
      </p:sp>
      <p:sp>
        <p:nvSpPr>
          <p:cNvPr id="6" name="Text 3"/>
          <p:cNvSpPr/>
          <p:nvPr/>
        </p:nvSpPr>
        <p:spPr>
          <a:xfrm>
            <a:off x="1029880" y="4581783"/>
            <a:ext cx="3007829" cy="295275"/>
          </a:xfrm>
          <a:prstGeom prst="rect">
            <a:avLst/>
          </a:prstGeom>
          <a:noFill/>
          <a:ln/>
        </p:spPr>
        <p:txBody>
          <a:bodyPr wrap="none" lIns="0" tIns="0" rIns="0" bIns="0" rtlCol="0" anchor="t"/>
          <a:lstStyle/>
          <a:p>
            <a:pPr algn="ctr">
              <a:lnSpc>
                <a:spcPts val="2292"/>
              </a:lnSpc>
            </a:pPr>
            <a:r>
              <a:rPr lang="en-US" sz="1833" b="1" dirty="0">
                <a:solidFill>
                  <a:srgbClr val="384653"/>
                </a:solidFill>
                <a:latin typeface="Times New Roman" panose="02020603050405020304" pitchFamily="18" charset="0"/>
                <a:ea typeface="Host Grotesk Medium" pitchFamily="34" charset="-122"/>
                <a:cs typeface="Times New Roman" panose="02020603050405020304" pitchFamily="18" charset="0"/>
              </a:rPr>
              <a:t>Algorithm Selection</a:t>
            </a:r>
            <a:endParaRPr lang="en-US" sz="1833" b="1" dirty="0">
              <a:latin typeface="Times New Roman" panose="02020603050405020304" pitchFamily="18" charset="0"/>
              <a:cs typeface="Times New Roman" panose="02020603050405020304" pitchFamily="18" charset="0"/>
            </a:endParaRPr>
          </a:p>
        </p:txBody>
      </p:sp>
      <p:sp>
        <p:nvSpPr>
          <p:cNvPr id="7" name="Text 4"/>
          <p:cNvSpPr/>
          <p:nvPr/>
        </p:nvSpPr>
        <p:spPr>
          <a:xfrm>
            <a:off x="1054679" y="4990464"/>
            <a:ext cx="3007830" cy="1449135"/>
          </a:xfrm>
          <a:prstGeom prst="rect">
            <a:avLst/>
          </a:prstGeom>
          <a:noFill/>
          <a:ln/>
        </p:spPr>
        <p:txBody>
          <a:bodyPr wrap="square" lIns="0" tIns="0" rIns="0" bIns="0" rtlCol="0" anchor="t"/>
          <a:lstStyle/>
          <a:p>
            <a:pPr algn="ct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Random Forest was selected because it can understand complex, non-linear relationships between pollutants while reducing the risk of overfitting.</a:t>
            </a:r>
            <a:endParaRPr lang="en-US" sz="1600" dirty="0">
              <a:latin typeface="Times New Roman" panose="02020603050405020304" pitchFamily="18" charset="0"/>
              <a:cs typeface="Times New Roman" panose="02020603050405020304" pitchFamily="18" charset="0"/>
            </a:endParaRPr>
          </a:p>
        </p:txBody>
      </p:sp>
      <p:sp>
        <p:nvSpPr>
          <p:cNvPr id="9" name="Text 5"/>
          <p:cNvSpPr/>
          <p:nvPr/>
        </p:nvSpPr>
        <p:spPr>
          <a:xfrm>
            <a:off x="4682166" y="4581783"/>
            <a:ext cx="3007829" cy="295275"/>
          </a:xfrm>
          <a:prstGeom prst="rect">
            <a:avLst/>
          </a:prstGeom>
          <a:noFill/>
          <a:ln/>
        </p:spPr>
        <p:txBody>
          <a:bodyPr wrap="none" lIns="0" tIns="0" rIns="0" bIns="0" rtlCol="0" anchor="t"/>
          <a:lstStyle/>
          <a:p>
            <a:pPr algn="ctr">
              <a:lnSpc>
                <a:spcPts val="2292"/>
              </a:lnSpc>
            </a:pPr>
            <a:r>
              <a:rPr lang="en-US" sz="1833" b="1" dirty="0">
                <a:solidFill>
                  <a:srgbClr val="384653"/>
                </a:solidFill>
                <a:latin typeface="Times New Roman" panose="02020603050405020304" pitchFamily="18" charset="0"/>
                <a:ea typeface="Host Grotesk Medium" pitchFamily="34" charset="-122"/>
                <a:cs typeface="Times New Roman" panose="02020603050405020304" pitchFamily="18" charset="0"/>
              </a:rPr>
              <a:t>Data Partitioning</a:t>
            </a:r>
            <a:endParaRPr lang="en-US" sz="1833" b="1" dirty="0">
              <a:latin typeface="Times New Roman" panose="02020603050405020304" pitchFamily="18" charset="0"/>
              <a:cs typeface="Times New Roman" panose="02020603050405020304" pitchFamily="18" charset="0"/>
            </a:endParaRPr>
          </a:p>
        </p:txBody>
      </p:sp>
      <p:sp>
        <p:nvSpPr>
          <p:cNvPr id="10" name="Text 6"/>
          <p:cNvSpPr/>
          <p:nvPr/>
        </p:nvSpPr>
        <p:spPr>
          <a:xfrm>
            <a:off x="4682166" y="4984042"/>
            <a:ext cx="3007831" cy="1449136"/>
          </a:xfrm>
          <a:prstGeom prst="rect">
            <a:avLst/>
          </a:prstGeom>
          <a:noFill/>
          <a:ln/>
        </p:spPr>
        <p:txBody>
          <a:bodyPr wrap="square" lIns="0" tIns="0" rIns="0" bIns="0" rtlCol="0" anchor="t"/>
          <a:lstStyle/>
          <a:p>
            <a:pPr algn="ct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We split the data into two parts 80% to train the model and 20% to test how well it learned making sure both parts had a similar mix of data so the results would be reliable.</a:t>
            </a:r>
            <a:endParaRPr lang="en-US" sz="1600" dirty="0">
              <a:latin typeface="Times New Roman" panose="02020603050405020304" pitchFamily="18" charset="0"/>
              <a:cs typeface="Times New Roman" panose="02020603050405020304" pitchFamily="18" charset="0"/>
            </a:endParaRPr>
          </a:p>
        </p:txBody>
      </p:sp>
      <p:sp>
        <p:nvSpPr>
          <p:cNvPr id="12" name="Text 7"/>
          <p:cNvSpPr/>
          <p:nvPr/>
        </p:nvSpPr>
        <p:spPr>
          <a:xfrm>
            <a:off x="8309653" y="4581783"/>
            <a:ext cx="2964518" cy="295275"/>
          </a:xfrm>
          <a:prstGeom prst="rect">
            <a:avLst/>
          </a:prstGeom>
          <a:noFill/>
          <a:ln/>
        </p:spPr>
        <p:txBody>
          <a:bodyPr wrap="none" lIns="0" tIns="0" rIns="0" bIns="0" rtlCol="0" anchor="t"/>
          <a:lstStyle/>
          <a:p>
            <a:pPr algn="ctr">
              <a:lnSpc>
                <a:spcPts val="2292"/>
              </a:lnSpc>
            </a:pPr>
            <a:r>
              <a:rPr lang="en-US" sz="1833" b="1" dirty="0">
                <a:solidFill>
                  <a:srgbClr val="384653"/>
                </a:solidFill>
                <a:latin typeface="Times New Roman" panose="02020603050405020304" pitchFamily="18" charset="0"/>
                <a:ea typeface="Host Grotesk Medium" pitchFamily="34" charset="-122"/>
                <a:cs typeface="Times New Roman" panose="02020603050405020304" pitchFamily="18" charset="0"/>
              </a:rPr>
              <a:t>Model Training</a:t>
            </a:r>
            <a:endParaRPr lang="en-US" sz="1833" b="1" dirty="0">
              <a:latin typeface="Times New Roman" panose="02020603050405020304" pitchFamily="18" charset="0"/>
              <a:cs typeface="Times New Roman" panose="02020603050405020304" pitchFamily="18" charset="0"/>
            </a:endParaRPr>
          </a:p>
        </p:txBody>
      </p:sp>
      <p:sp>
        <p:nvSpPr>
          <p:cNvPr id="13" name="Text 8"/>
          <p:cNvSpPr/>
          <p:nvPr/>
        </p:nvSpPr>
        <p:spPr>
          <a:xfrm>
            <a:off x="8309653" y="4990464"/>
            <a:ext cx="2964519" cy="1449135"/>
          </a:xfrm>
          <a:prstGeom prst="rect">
            <a:avLst/>
          </a:prstGeom>
          <a:noFill/>
          <a:ln/>
        </p:spPr>
        <p:txBody>
          <a:bodyPr wrap="square" lIns="0" tIns="0" rIns="0" bIns="0" rtlCol="0" anchor="t"/>
          <a:lstStyle/>
          <a:p>
            <a:pPr algn="ct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The  model gradually learns detailed patterns between pollution levels and the resulting AQI by continuously improving itself with each step.</a:t>
            </a:r>
            <a:endParaRPr lang="en-US" sz="16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ABC2F038-EEE4-B236-FA2C-4B38B486FC11}"/>
              </a:ext>
            </a:extLst>
          </p:cNvPr>
          <p:cNvPicPr>
            <a:picLocks noChangeAspect="1"/>
          </p:cNvPicPr>
          <p:nvPr/>
        </p:nvPicPr>
        <p:blipFill>
          <a:blip r:embed="rId3"/>
          <a:srcRect t="5670"/>
          <a:stretch>
            <a:fillRect/>
          </a:stretch>
        </p:blipFill>
        <p:spPr>
          <a:xfrm>
            <a:off x="4682166" y="1967934"/>
            <a:ext cx="2827667" cy="2195644"/>
          </a:xfrm>
          <a:prstGeom prst="rect">
            <a:avLst/>
          </a:prstGeom>
        </p:spPr>
      </p:pic>
      <p:pic>
        <p:nvPicPr>
          <p:cNvPr id="21" name="Picture 20">
            <a:extLst>
              <a:ext uri="{FF2B5EF4-FFF2-40B4-BE49-F238E27FC236}">
                <a16:creationId xmlns:a16="http://schemas.microsoft.com/office/drawing/2014/main" id="{E7FE9FD9-7CBE-2D5F-73B2-F8F4B93276CA}"/>
              </a:ext>
            </a:extLst>
          </p:cNvPr>
          <p:cNvPicPr>
            <a:picLocks noChangeAspect="1"/>
          </p:cNvPicPr>
          <p:nvPr/>
        </p:nvPicPr>
        <p:blipFill>
          <a:blip r:embed="rId4"/>
          <a:stretch>
            <a:fillRect/>
          </a:stretch>
        </p:blipFill>
        <p:spPr>
          <a:xfrm>
            <a:off x="8309653" y="1967934"/>
            <a:ext cx="2964518" cy="2128938"/>
          </a:xfrm>
          <a:prstGeom prst="rect">
            <a:avLst/>
          </a:prstGeom>
        </p:spPr>
      </p:pic>
      <p:pic>
        <p:nvPicPr>
          <p:cNvPr id="3076" name="Picture 4" descr="Generated image">
            <a:extLst>
              <a:ext uri="{FF2B5EF4-FFF2-40B4-BE49-F238E27FC236}">
                <a16:creationId xmlns:a16="http://schemas.microsoft.com/office/drawing/2014/main" id="{3FA274F5-85F7-1BA5-E716-93120F75C9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4679" y="2034640"/>
            <a:ext cx="2827667" cy="21289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0">
            <a:extLst>
              <a:ext uri="{FF2B5EF4-FFF2-40B4-BE49-F238E27FC236}">
                <a16:creationId xmlns:a16="http://schemas.microsoft.com/office/drawing/2014/main" id="{9F4857CF-A50E-A348-3AEE-2E3C350C60A5}"/>
              </a:ext>
            </a:extLst>
          </p:cNvPr>
          <p:cNvSpPr/>
          <p:nvPr/>
        </p:nvSpPr>
        <p:spPr>
          <a:xfrm>
            <a:off x="380716" y="673874"/>
            <a:ext cx="1585870"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
            <a:extLst>
              <a:ext uri="{FF2B5EF4-FFF2-40B4-BE49-F238E27FC236}">
                <a16:creationId xmlns:a16="http://schemas.microsoft.com/office/drawing/2014/main" id="{59444C68-6D5A-2768-8696-959C347F2C3F}"/>
              </a:ext>
            </a:extLst>
          </p:cNvPr>
          <p:cNvSpPr/>
          <p:nvPr/>
        </p:nvSpPr>
        <p:spPr>
          <a:xfrm>
            <a:off x="494124" y="735268"/>
            <a:ext cx="1076661" cy="192136"/>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VISUALIZATION</a:t>
            </a:r>
            <a:endParaRPr lang="en-US" sz="1400" dirty="0">
              <a:latin typeface="Times New Roman" panose="02020603050405020304" pitchFamily="18" charset="0"/>
              <a:cs typeface="Times New Roman" panose="02020603050405020304" pitchFamily="18" charset="0"/>
            </a:endParaRPr>
          </a:p>
        </p:txBody>
      </p:sp>
      <p:sp>
        <p:nvSpPr>
          <p:cNvPr id="21" name="Text 2">
            <a:extLst>
              <a:ext uri="{FF2B5EF4-FFF2-40B4-BE49-F238E27FC236}">
                <a16:creationId xmlns:a16="http://schemas.microsoft.com/office/drawing/2014/main" id="{6CE542AB-C0E3-8951-BA7A-55C091FA1189}"/>
              </a:ext>
            </a:extLst>
          </p:cNvPr>
          <p:cNvSpPr/>
          <p:nvPr/>
        </p:nvSpPr>
        <p:spPr>
          <a:xfrm>
            <a:off x="380716" y="1089601"/>
            <a:ext cx="3903185"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Model Visualization</a:t>
            </a:r>
            <a:endParaRPr lang="en-US" sz="3500" b="1"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DBCE2D01-D556-8811-1C8D-25F9020EDF62}"/>
              </a:ext>
            </a:extLst>
          </p:cNvPr>
          <p:cNvPicPr>
            <a:picLocks noChangeAspect="1"/>
          </p:cNvPicPr>
          <p:nvPr/>
        </p:nvPicPr>
        <p:blipFill>
          <a:blip r:embed="rId2"/>
          <a:srcRect/>
          <a:stretch/>
        </p:blipFill>
        <p:spPr>
          <a:xfrm>
            <a:off x="189370" y="1816407"/>
            <a:ext cx="4907603" cy="3680702"/>
          </a:xfrm>
          <a:prstGeom prst="rect">
            <a:avLst/>
          </a:prstGeom>
        </p:spPr>
      </p:pic>
      <p:sp>
        <p:nvSpPr>
          <p:cNvPr id="26" name="Text 3">
            <a:extLst>
              <a:ext uri="{FF2B5EF4-FFF2-40B4-BE49-F238E27FC236}">
                <a16:creationId xmlns:a16="http://schemas.microsoft.com/office/drawing/2014/main" id="{C94A27F6-D9C8-485D-89F6-E66F6E9718A1}"/>
              </a:ext>
            </a:extLst>
          </p:cNvPr>
          <p:cNvSpPr/>
          <p:nvPr/>
        </p:nvSpPr>
        <p:spPr>
          <a:xfrm>
            <a:off x="380715" y="5863053"/>
            <a:ext cx="4802329" cy="302419"/>
          </a:xfrm>
          <a:prstGeom prst="rect">
            <a:avLst/>
          </a:prstGeom>
          <a:noFill/>
          <a:ln/>
        </p:spPr>
        <p:txBody>
          <a:bodyPr wrap="none" lIns="0" tIns="0" rIns="0" bIns="0" rtlCol="0" anchor="t"/>
          <a:lstStyle/>
          <a:p>
            <a:pPr algn="ctr">
              <a:lnSpc>
                <a:spcPts val="2375"/>
              </a:lnSpc>
            </a:pPr>
            <a:r>
              <a:rPr lang="en-US" sz="1458" b="1" dirty="0">
                <a:latin typeface="Times New Roman" panose="02020603050405020304" pitchFamily="18" charset="0"/>
                <a:cs typeface="Times New Roman" panose="02020603050405020304" pitchFamily="18" charset="0"/>
              </a:rPr>
              <a:t>Actual vs Predicted AQI</a:t>
            </a:r>
          </a:p>
        </p:txBody>
      </p:sp>
      <p:sp>
        <p:nvSpPr>
          <p:cNvPr id="27" name="Text 3">
            <a:extLst>
              <a:ext uri="{FF2B5EF4-FFF2-40B4-BE49-F238E27FC236}">
                <a16:creationId xmlns:a16="http://schemas.microsoft.com/office/drawing/2014/main" id="{66C624B8-9686-C56C-F7AF-5D4FDCAFB06F}"/>
              </a:ext>
            </a:extLst>
          </p:cNvPr>
          <p:cNvSpPr/>
          <p:nvPr/>
        </p:nvSpPr>
        <p:spPr>
          <a:xfrm>
            <a:off x="5319786" y="5863052"/>
            <a:ext cx="6722033" cy="302419"/>
          </a:xfrm>
          <a:prstGeom prst="rect">
            <a:avLst/>
          </a:prstGeom>
          <a:noFill/>
          <a:ln/>
        </p:spPr>
        <p:txBody>
          <a:bodyPr wrap="none" lIns="0" tIns="0" rIns="0" bIns="0" rtlCol="0" anchor="t"/>
          <a:lstStyle/>
          <a:p>
            <a:pPr algn="ctr">
              <a:lnSpc>
                <a:spcPts val="2375"/>
              </a:lnSpc>
            </a:pPr>
            <a:r>
              <a:rPr lang="en-US" sz="1458" b="1" dirty="0">
                <a:solidFill>
                  <a:srgbClr val="272525"/>
                </a:solidFill>
                <a:latin typeface="Times New Roman" panose="02020603050405020304" pitchFamily="18" charset="0"/>
                <a:ea typeface="Inter" pitchFamily="34" charset="-122"/>
                <a:cs typeface="Times New Roman" panose="02020603050405020304" pitchFamily="18" charset="0"/>
              </a:rPr>
              <a:t>Feature Importance</a:t>
            </a:r>
            <a:endParaRPr lang="en-US" sz="1458"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B63C827-BA4B-7B25-D1ED-A1CC2FB2C686}"/>
              </a:ext>
            </a:extLst>
          </p:cNvPr>
          <p:cNvPicPr>
            <a:picLocks noChangeAspect="1"/>
          </p:cNvPicPr>
          <p:nvPr/>
        </p:nvPicPr>
        <p:blipFill>
          <a:blip r:embed="rId3"/>
          <a:srcRect r="4023"/>
          <a:stretch>
            <a:fillRect/>
          </a:stretch>
        </p:blipFill>
        <p:spPr>
          <a:xfrm>
            <a:off x="5319786" y="1816407"/>
            <a:ext cx="6722033" cy="3680702"/>
          </a:xfrm>
          <a:prstGeom prst="rect">
            <a:avLst/>
          </a:prstGeom>
        </p:spPr>
      </p:pic>
    </p:spTree>
    <p:extLst>
      <p:ext uri="{BB962C8B-B14F-4D97-AF65-F5344CB8AC3E}">
        <p14:creationId xmlns:p14="http://schemas.microsoft.com/office/powerpoint/2010/main" val="2127746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0">
            <a:extLst>
              <a:ext uri="{FF2B5EF4-FFF2-40B4-BE49-F238E27FC236}">
                <a16:creationId xmlns:a16="http://schemas.microsoft.com/office/drawing/2014/main" id="{9F4857CF-A50E-A348-3AEE-2E3C350C60A5}"/>
              </a:ext>
            </a:extLst>
          </p:cNvPr>
          <p:cNvSpPr/>
          <p:nvPr/>
        </p:nvSpPr>
        <p:spPr>
          <a:xfrm>
            <a:off x="380716" y="673874"/>
            <a:ext cx="1190069"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
            <a:extLst>
              <a:ext uri="{FF2B5EF4-FFF2-40B4-BE49-F238E27FC236}">
                <a16:creationId xmlns:a16="http://schemas.microsoft.com/office/drawing/2014/main" id="{59444C68-6D5A-2768-8696-959C347F2C3F}"/>
              </a:ext>
            </a:extLst>
          </p:cNvPr>
          <p:cNvSpPr/>
          <p:nvPr/>
        </p:nvSpPr>
        <p:spPr>
          <a:xfrm>
            <a:off x="494124" y="735268"/>
            <a:ext cx="1076661" cy="192136"/>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SYSTEM UI</a:t>
            </a:r>
            <a:endParaRPr lang="en-US" sz="1400" dirty="0">
              <a:latin typeface="Times New Roman" panose="02020603050405020304" pitchFamily="18" charset="0"/>
              <a:cs typeface="Times New Roman" panose="02020603050405020304" pitchFamily="18" charset="0"/>
            </a:endParaRPr>
          </a:p>
        </p:txBody>
      </p:sp>
      <p:sp>
        <p:nvSpPr>
          <p:cNvPr id="21" name="Text 2">
            <a:extLst>
              <a:ext uri="{FF2B5EF4-FFF2-40B4-BE49-F238E27FC236}">
                <a16:creationId xmlns:a16="http://schemas.microsoft.com/office/drawing/2014/main" id="{6CE542AB-C0E3-8951-BA7A-55C091FA1189}"/>
              </a:ext>
            </a:extLst>
          </p:cNvPr>
          <p:cNvSpPr/>
          <p:nvPr/>
        </p:nvSpPr>
        <p:spPr>
          <a:xfrm>
            <a:off x="380716" y="1089601"/>
            <a:ext cx="6817145"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Building Interactive User Interface</a:t>
            </a:r>
            <a:endParaRPr lang="en-US" sz="3500" b="1"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DBCE2D01-D556-8811-1C8D-25F9020EDF62}"/>
              </a:ext>
            </a:extLst>
          </p:cNvPr>
          <p:cNvPicPr>
            <a:picLocks noChangeAspect="1"/>
          </p:cNvPicPr>
          <p:nvPr/>
        </p:nvPicPr>
        <p:blipFill>
          <a:blip r:embed="rId2"/>
          <a:stretch>
            <a:fillRect/>
          </a:stretch>
        </p:blipFill>
        <p:spPr>
          <a:xfrm>
            <a:off x="380716" y="2074984"/>
            <a:ext cx="5433929" cy="3544545"/>
          </a:xfrm>
          <a:prstGeom prst="rect">
            <a:avLst/>
          </a:prstGeom>
        </p:spPr>
      </p:pic>
      <p:pic>
        <p:nvPicPr>
          <p:cNvPr id="25" name="Picture 24">
            <a:extLst>
              <a:ext uri="{FF2B5EF4-FFF2-40B4-BE49-F238E27FC236}">
                <a16:creationId xmlns:a16="http://schemas.microsoft.com/office/drawing/2014/main" id="{CFF49007-6D5E-408E-DCAD-83A34759BD92}"/>
              </a:ext>
            </a:extLst>
          </p:cNvPr>
          <p:cNvPicPr>
            <a:picLocks noChangeAspect="1"/>
          </p:cNvPicPr>
          <p:nvPr/>
        </p:nvPicPr>
        <p:blipFill>
          <a:blip r:embed="rId3"/>
          <a:srcRect l="2408" r="3718"/>
          <a:stretch>
            <a:fillRect/>
          </a:stretch>
        </p:blipFill>
        <p:spPr>
          <a:xfrm>
            <a:off x="6096000" y="2074984"/>
            <a:ext cx="5723119" cy="3544545"/>
          </a:xfrm>
          <a:prstGeom prst="rect">
            <a:avLst/>
          </a:prstGeom>
        </p:spPr>
      </p:pic>
      <p:sp>
        <p:nvSpPr>
          <p:cNvPr id="26" name="Text 3">
            <a:extLst>
              <a:ext uri="{FF2B5EF4-FFF2-40B4-BE49-F238E27FC236}">
                <a16:creationId xmlns:a16="http://schemas.microsoft.com/office/drawing/2014/main" id="{C94A27F6-D9C8-485D-89F6-E66F6E9718A1}"/>
              </a:ext>
            </a:extLst>
          </p:cNvPr>
          <p:cNvSpPr/>
          <p:nvPr/>
        </p:nvSpPr>
        <p:spPr>
          <a:xfrm>
            <a:off x="380715" y="5863053"/>
            <a:ext cx="5433929" cy="302419"/>
          </a:xfrm>
          <a:prstGeom prst="rect">
            <a:avLst/>
          </a:prstGeom>
          <a:noFill/>
          <a:ln/>
        </p:spPr>
        <p:txBody>
          <a:bodyPr wrap="none" lIns="0" tIns="0" rIns="0" bIns="0" rtlCol="0" anchor="t"/>
          <a:lstStyle/>
          <a:p>
            <a:pPr algn="ctr">
              <a:lnSpc>
                <a:spcPts val="2375"/>
              </a:lnSpc>
            </a:pPr>
            <a:r>
              <a:rPr lang="en-US" sz="1458" dirty="0">
                <a:solidFill>
                  <a:srgbClr val="272525"/>
                </a:solidFill>
                <a:latin typeface="Times New Roman" panose="02020603050405020304" pitchFamily="18" charset="0"/>
                <a:ea typeface="Inter" pitchFamily="34" charset="-122"/>
                <a:cs typeface="Times New Roman" panose="02020603050405020304" pitchFamily="18" charset="0"/>
              </a:rPr>
              <a:t>Quick Presets and Pollutants Range Selector for Predicting AQI</a:t>
            </a:r>
            <a:endParaRPr lang="en-US" sz="1458" dirty="0">
              <a:latin typeface="Times New Roman" panose="02020603050405020304" pitchFamily="18" charset="0"/>
              <a:cs typeface="Times New Roman" panose="02020603050405020304" pitchFamily="18" charset="0"/>
            </a:endParaRPr>
          </a:p>
        </p:txBody>
      </p:sp>
      <p:sp>
        <p:nvSpPr>
          <p:cNvPr id="27" name="Text 3">
            <a:extLst>
              <a:ext uri="{FF2B5EF4-FFF2-40B4-BE49-F238E27FC236}">
                <a16:creationId xmlns:a16="http://schemas.microsoft.com/office/drawing/2014/main" id="{66C624B8-9686-C56C-F7AF-5D4FDCAFB06F}"/>
              </a:ext>
            </a:extLst>
          </p:cNvPr>
          <p:cNvSpPr/>
          <p:nvPr/>
        </p:nvSpPr>
        <p:spPr>
          <a:xfrm>
            <a:off x="6240594" y="5863052"/>
            <a:ext cx="5433929" cy="302419"/>
          </a:xfrm>
          <a:prstGeom prst="rect">
            <a:avLst/>
          </a:prstGeom>
          <a:noFill/>
          <a:ln/>
        </p:spPr>
        <p:txBody>
          <a:bodyPr wrap="none" lIns="0" tIns="0" rIns="0" bIns="0" rtlCol="0" anchor="t"/>
          <a:lstStyle/>
          <a:p>
            <a:pPr algn="ctr">
              <a:lnSpc>
                <a:spcPts val="2375"/>
              </a:lnSpc>
            </a:pPr>
            <a:r>
              <a:rPr lang="en-US" sz="1458" dirty="0">
                <a:solidFill>
                  <a:srgbClr val="272525"/>
                </a:solidFill>
                <a:latin typeface="Times New Roman" panose="02020603050405020304" pitchFamily="18" charset="0"/>
                <a:ea typeface="Inter" pitchFamily="34" charset="-122"/>
                <a:cs typeface="Times New Roman" panose="02020603050405020304" pitchFamily="18" charset="0"/>
              </a:rPr>
              <a:t>Analyzing Dashboard for Monitoring Cities With Time Filter</a:t>
            </a:r>
            <a:endParaRPr lang="en-US" sz="1458"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7933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E6FAFF98-BDE9-BB60-AE92-BBE01424E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9065" y="1613533"/>
            <a:ext cx="8518632" cy="2413613"/>
          </a:xfrm>
          <a:prstGeom prst="rect">
            <a:avLst/>
          </a:prstGeom>
          <a:noFill/>
          <a:extLst>
            <a:ext uri="{909E8E84-426E-40DD-AFC4-6F175D3DCCD1}">
              <a14:hiddenFill xmlns:a14="http://schemas.microsoft.com/office/drawing/2010/main">
                <a:solidFill>
                  <a:srgbClr val="FFFFFF"/>
                </a:solidFill>
              </a14:hiddenFill>
            </a:ext>
          </a:extLst>
        </p:spPr>
      </p:pic>
      <p:sp>
        <p:nvSpPr>
          <p:cNvPr id="3" name="Text 1">
            <a:extLst>
              <a:ext uri="{FF2B5EF4-FFF2-40B4-BE49-F238E27FC236}">
                <a16:creationId xmlns:a16="http://schemas.microsoft.com/office/drawing/2014/main" id="{58BD8AA4-F91A-17AB-00BC-C6DE4A78A20A}"/>
              </a:ext>
            </a:extLst>
          </p:cNvPr>
          <p:cNvSpPr/>
          <p:nvPr/>
        </p:nvSpPr>
        <p:spPr>
          <a:xfrm>
            <a:off x="6586316" y="4107202"/>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MSE</a:t>
            </a:r>
            <a:endParaRPr lang="en-US" sz="16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F5A5AE7C-3C7A-BE5D-43F4-F89E70452413}"/>
              </a:ext>
            </a:extLst>
          </p:cNvPr>
          <p:cNvSpPr/>
          <p:nvPr/>
        </p:nvSpPr>
        <p:spPr>
          <a:xfrm>
            <a:off x="4555016" y="4107685"/>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MAE</a:t>
            </a:r>
            <a:endParaRPr lang="en-US" sz="16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7F9C070D-BDF5-EA7E-D192-C23527274E64}"/>
              </a:ext>
            </a:extLst>
          </p:cNvPr>
          <p:cNvSpPr/>
          <p:nvPr/>
        </p:nvSpPr>
        <p:spPr>
          <a:xfrm>
            <a:off x="2523716" y="4107685"/>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R² Score</a:t>
            </a:r>
            <a:endParaRPr lang="en-US" sz="1600" dirty="0">
              <a:latin typeface="Times New Roman" panose="02020603050405020304" pitchFamily="18" charset="0"/>
              <a:cs typeface="Times New Roman" panose="02020603050405020304" pitchFamily="18" charset="0"/>
            </a:endParaRPr>
          </a:p>
        </p:txBody>
      </p:sp>
      <p:sp>
        <p:nvSpPr>
          <p:cNvPr id="8" name="Shape 0">
            <a:extLst>
              <a:ext uri="{FF2B5EF4-FFF2-40B4-BE49-F238E27FC236}">
                <a16:creationId xmlns:a16="http://schemas.microsoft.com/office/drawing/2014/main" id="{C25FB359-2511-EBAB-2602-8CA3FBB5282F}"/>
              </a:ext>
            </a:extLst>
          </p:cNvPr>
          <p:cNvSpPr/>
          <p:nvPr/>
        </p:nvSpPr>
        <p:spPr>
          <a:xfrm>
            <a:off x="894225" y="607156"/>
            <a:ext cx="2223621"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9" name="Text 1">
            <a:extLst>
              <a:ext uri="{FF2B5EF4-FFF2-40B4-BE49-F238E27FC236}">
                <a16:creationId xmlns:a16="http://schemas.microsoft.com/office/drawing/2014/main" id="{75F19258-763A-43F3-6301-13C4CAD96B5C}"/>
              </a:ext>
            </a:extLst>
          </p:cNvPr>
          <p:cNvSpPr/>
          <p:nvPr/>
        </p:nvSpPr>
        <p:spPr>
          <a:xfrm>
            <a:off x="1007633" y="663811"/>
            <a:ext cx="159652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MODEL PERFORMANCE</a:t>
            </a:r>
            <a:endParaRPr lang="en-US" sz="1400" dirty="0">
              <a:latin typeface="Times New Roman" panose="02020603050405020304" pitchFamily="18" charset="0"/>
              <a:cs typeface="Times New Roman" panose="02020603050405020304" pitchFamily="18" charset="0"/>
            </a:endParaRPr>
          </a:p>
        </p:txBody>
      </p:sp>
      <p:sp>
        <p:nvSpPr>
          <p:cNvPr id="10" name="Text 2">
            <a:extLst>
              <a:ext uri="{FF2B5EF4-FFF2-40B4-BE49-F238E27FC236}">
                <a16:creationId xmlns:a16="http://schemas.microsoft.com/office/drawing/2014/main" id="{E70A05C0-7809-668A-5379-95F0880DB631}"/>
              </a:ext>
            </a:extLst>
          </p:cNvPr>
          <p:cNvSpPr/>
          <p:nvPr/>
        </p:nvSpPr>
        <p:spPr>
          <a:xfrm>
            <a:off x="894226" y="1022883"/>
            <a:ext cx="6091546"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Evaluating Model Performance</a:t>
            </a:r>
            <a:endParaRPr lang="en-US" sz="3500" b="1" dirty="0">
              <a:latin typeface="Times New Roman" panose="02020603050405020304" pitchFamily="18" charset="0"/>
              <a:cs typeface="Times New Roman" panose="02020603050405020304" pitchFamily="18" charset="0"/>
            </a:endParaRPr>
          </a:p>
        </p:txBody>
      </p:sp>
      <p:sp>
        <p:nvSpPr>
          <p:cNvPr id="30" name="Text 1">
            <a:extLst>
              <a:ext uri="{FF2B5EF4-FFF2-40B4-BE49-F238E27FC236}">
                <a16:creationId xmlns:a16="http://schemas.microsoft.com/office/drawing/2014/main" id="{5E6D1CDC-5606-5680-CAF9-C7888298BA7B}"/>
              </a:ext>
            </a:extLst>
          </p:cNvPr>
          <p:cNvSpPr/>
          <p:nvPr/>
        </p:nvSpPr>
        <p:spPr>
          <a:xfrm>
            <a:off x="2142151" y="2540216"/>
            <a:ext cx="1763636"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0.76</a:t>
            </a:r>
            <a:endParaRPr lang="en-US" sz="3500" dirty="0">
              <a:latin typeface="Times New Roman" panose="02020603050405020304" pitchFamily="18" charset="0"/>
              <a:cs typeface="Times New Roman" panose="02020603050405020304" pitchFamily="18" charset="0"/>
            </a:endParaRPr>
          </a:p>
        </p:txBody>
      </p:sp>
      <p:sp>
        <p:nvSpPr>
          <p:cNvPr id="31" name="Text 1">
            <a:extLst>
              <a:ext uri="{FF2B5EF4-FFF2-40B4-BE49-F238E27FC236}">
                <a16:creationId xmlns:a16="http://schemas.microsoft.com/office/drawing/2014/main" id="{1F66ABA0-DEEC-45A7-F824-524588C2BED6}"/>
              </a:ext>
            </a:extLst>
          </p:cNvPr>
          <p:cNvSpPr/>
          <p:nvPr/>
        </p:nvSpPr>
        <p:spPr>
          <a:xfrm>
            <a:off x="4363583" y="2488855"/>
            <a:ext cx="1763635"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13.85</a:t>
            </a:r>
            <a:endParaRPr lang="en-US" sz="3500" dirty="0">
              <a:latin typeface="Times New Roman" panose="02020603050405020304" pitchFamily="18" charset="0"/>
              <a:cs typeface="Times New Roman" panose="02020603050405020304" pitchFamily="18" charset="0"/>
            </a:endParaRPr>
          </a:p>
        </p:txBody>
      </p:sp>
      <p:sp>
        <p:nvSpPr>
          <p:cNvPr id="32" name="Text 1">
            <a:extLst>
              <a:ext uri="{FF2B5EF4-FFF2-40B4-BE49-F238E27FC236}">
                <a16:creationId xmlns:a16="http://schemas.microsoft.com/office/drawing/2014/main" id="{CF32AB6F-2086-EBEA-46C5-86920D4A2060}"/>
              </a:ext>
            </a:extLst>
          </p:cNvPr>
          <p:cNvSpPr/>
          <p:nvPr/>
        </p:nvSpPr>
        <p:spPr>
          <a:xfrm>
            <a:off x="6379100" y="2488855"/>
            <a:ext cx="1763637"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397.5</a:t>
            </a:r>
            <a:endParaRPr lang="en-US" sz="3500" dirty="0">
              <a:latin typeface="Times New Roman" panose="02020603050405020304" pitchFamily="18" charset="0"/>
              <a:cs typeface="Times New Roman" panose="02020603050405020304" pitchFamily="18" charset="0"/>
            </a:endParaRPr>
          </a:p>
        </p:txBody>
      </p:sp>
      <p:sp>
        <p:nvSpPr>
          <p:cNvPr id="11" name="Text 1">
            <a:extLst>
              <a:ext uri="{FF2B5EF4-FFF2-40B4-BE49-F238E27FC236}">
                <a16:creationId xmlns:a16="http://schemas.microsoft.com/office/drawing/2014/main" id="{CB6B28B3-BB62-64B3-367A-D157DBF8A0AC}"/>
              </a:ext>
            </a:extLst>
          </p:cNvPr>
          <p:cNvSpPr/>
          <p:nvPr/>
        </p:nvSpPr>
        <p:spPr>
          <a:xfrm>
            <a:off x="8617616" y="4107202"/>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RMSE</a:t>
            </a:r>
            <a:endParaRPr lang="en-US" sz="1600" dirty="0">
              <a:latin typeface="Times New Roman" panose="02020603050405020304" pitchFamily="18" charset="0"/>
              <a:cs typeface="Times New Roman" panose="02020603050405020304" pitchFamily="18" charset="0"/>
            </a:endParaRPr>
          </a:p>
        </p:txBody>
      </p:sp>
      <p:sp>
        <p:nvSpPr>
          <p:cNvPr id="12" name="Text 1">
            <a:extLst>
              <a:ext uri="{FF2B5EF4-FFF2-40B4-BE49-F238E27FC236}">
                <a16:creationId xmlns:a16="http://schemas.microsoft.com/office/drawing/2014/main" id="{9AD852A4-99DD-5641-6550-090037F6F245}"/>
              </a:ext>
            </a:extLst>
          </p:cNvPr>
          <p:cNvSpPr/>
          <p:nvPr/>
        </p:nvSpPr>
        <p:spPr>
          <a:xfrm>
            <a:off x="8388398" y="2488855"/>
            <a:ext cx="1763637"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19.94</a:t>
            </a:r>
            <a:endParaRPr lang="en-US" sz="3500" dirty="0">
              <a:latin typeface="Times New Roman" panose="02020603050405020304" pitchFamily="18" charset="0"/>
              <a:cs typeface="Times New Roman" panose="02020603050405020304" pitchFamily="18" charset="0"/>
            </a:endParaRPr>
          </a:p>
        </p:txBody>
      </p:sp>
      <p:sp>
        <p:nvSpPr>
          <p:cNvPr id="17" name="Rectangle 6">
            <a:extLst>
              <a:ext uri="{FF2B5EF4-FFF2-40B4-BE49-F238E27FC236}">
                <a16:creationId xmlns:a16="http://schemas.microsoft.com/office/drawing/2014/main" id="{DA18E772-5317-215A-ED19-2B19B22D0B7F}"/>
              </a:ext>
            </a:extLst>
          </p:cNvPr>
          <p:cNvSpPr>
            <a:spLocks noChangeArrowheads="1"/>
          </p:cNvSpPr>
          <p:nvPr/>
        </p:nvSpPr>
        <p:spPr bwMode="auto">
          <a:xfrm>
            <a:off x="894226" y="4503024"/>
            <a:ext cx="10488309"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Our model shows decent performance, with an R² score of about 0.76. This means it can explain around 76% of the changes in AQI levels, so it captures most of the important patterns in air quality data.</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MAE value of 13.85 AQI units indicates that, on average, the model’s predictions are fairly close to the actual values. The RMSE is around 19.94 AQI units, which suggests that while there are some larger errors, they are not too extreme.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results show that the model performs reasonably well and can be useful for analyzing and predicting air quality in real-world situations.</a:t>
            </a:r>
          </a:p>
        </p:txBody>
      </p:sp>
    </p:spTree>
    <p:extLst>
      <p:ext uri="{BB962C8B-B14F-4D97-AF65-F5344CB8AC3E}">
        <p14:creationId xmlns:p14="http://schemas.microsoft.com/office/powerpoint/2010/main" val="1721492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49CF4D-B993-6FE7-EEDD-CD9B128543BB}"/>
              </a:ext>
            </a:extLst>
          </p:cNvPr>
          <p:cNvSpPr txBox="1"/>
          <p:nvPr/>
        </p:nvSpPr>
        <p:spPr>
          <a:xfrm>
            <a:off x="3945987" y="2644170"/>
            <a:ext cx="4300025" cy="1569660"/>
          </a:xfrm>
          <a:prstGeom prst="rect">
            <a:avLst/>
          </a:prstGeom>
          <a:noFill/>
        </p:spPr>
        <p:txBody>
          <a:bodyPr wrap="square" rtlCol="0">
            <a:spAutoFit/>
          </a:bodyPr>
          <a:lstStyle/>
          <a:p>
            <a:pPr algn="just"/>
            <a:r>
              <a:rPr lang="en-US" sz="9600" b="1" dirty="0">
                <a:latin typeface="Times New Roman" panose="02020603050405020304" pitchFamily="18" charset="0"/>
                <a:cs typeface="Times New Roman" panose="02020603050405020304" pitchFamily="18" charset="0"/>
              </a:rPr>
              <a:t>Thanks</a:t>
            </a:r>
            <a:endParaRPr lang="en-US"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4061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578</TotalTime>
  <Words>757</Words>
  <Application>Microsoft Macintosh PowerPoint</Application>
  <PresentationFormat>Widescreen</PresentationFormat>
  <Paragraphs>83</Paragraphs>
  <Slides>11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Host Grotesk Medium</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Mayank Garg</dc:creator>
  <cp:lastModifiedBy>Mayank Garg</cp:lastModifiedBy>
  <cp:revision>45</cp:revision>
  <dcterms:created xsi:type="dcterms:W3CDTF">2026-01-31T18:25:23Z</dcterms:created>
  <dcterms:modified xsi:type="dcterms:W3CDTF">2026-02-19T18:33:25Z</dcterms:modified>
</cp:coreProperties>
</file>